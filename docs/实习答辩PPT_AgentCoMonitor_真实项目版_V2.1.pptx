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注入违规</a:t>
            </a:r>
            <a:r>
              <a:rPr lang="en-US" altLang="zh-CN" dirty="0"/>
              <a:t> </a:t>
            </a:r>
            <a:r>
              <a:rPr lang="zh-CN" altLang="en-US" dirty="0"/>
              <a:t>需要</a:t>
            </a:r>
            <a:r>
              <a:rPr lang="zh-CN" altLang="en-US" dirty="0"/>
              <a:t>解释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notesSlide" Target="../notesSlides/notesSlide5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4" Type="http://schemas.openxmlformats.org/officeDocument/2006/relationships/notesSlide" Target="../notesSlides/notesSlide7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tags" Target="../tags/tag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4" Type="http://schemas.openxmlformats.org/officeDocument/2006/relationships/notesSlide" Target="../notesSlides/notesSlide9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3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tags" Target="../tags/tag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03320" cy="6858000"/>
          </a:xfrm>
          <a:prstGeom prst="rect">
            <a:avLst/>
          </a:prstGeom>
          <a:solidFill>
            <a:srgbClr val="14334A"/>
          </a:solidFill>
          <a:ln w="12700">
            <a:solidFill>
              <a:srgbClr val="143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40080"/>
            <a:ext cx="2103120" cy="2103120"/>
          </a:xfrm>
          <a:prstGeom prst="arc">
            <a:avLst/>
          </a:prstGeom>
          <a:solidFill>
            <a:srgbClr val="14334A">
              <a:alpha val="0"/>
            </a:srgbClr>
          </a:solidFill>
          <a:ln w="12700">
            <a:solidFill>
              <a:srgbClr val="547189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097280"/>
            <a:ext cx="82296" cy="82296"/>
          </a:xfrm>
          <a:prstGeom prst="ellipse">
            <a:avLst/>
          </a:prstGeom>
          <a:solidFill>
            <a:srgbClr val="A9C5D7"/>
          </a:solidFill>
          <a:ln w="12700">
            <a:solidFill>
              <a:srgbClr val="A9C5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822960"/>
            <a:ext cx="82296" cy="82296"/>
          </a:xfrm>
          <a:prstGeom prst="ellipse">
            <a:avLst/>
          </a:prstGeom>
          <a:solidFill>
            <a:srgbClr val="A9C5D7"/>
          </a:solidFill>
          <a:ln w="12700">
            <a:solidFill>
              <a:srgbClr val="A9C5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1143000"/>
            <a:ext cx="82296" cy="82296"/>
          </a:xfrm>
          <a:prstGeom prst="ellipse">
            <a:avLst/>
          </a:prstGeom>
          <a:solidFill>
            <a:srgbClr val="A9C5D7"/>
          </a:solidFill>
          <a:ln w="12700">
            <a:solidFill>
              <a:srgbClr val="A9C5D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1600200"/>
            <a:ext cx="82296" cy="82296"/>
          </a:xfrm>
          <a:prstGeom prst="ellipse">
            <a:avLst/>
          </a:prstGeom>
          <a:solidFill>
            <a:srgbClr val="A9C5D7"/>
          </a:solidFill>
          <a:ln w="12700">
            <a:solidFill>
              <a:srgbClr val="A9C5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31720" y="1691640"/>
            <a:ext cx="82296" cy="82296"/>
          </a:xfrm>
          <a:prstGeom prst="ellipse">
            <a:avLst/>
          </a:prstGeom>
          <a:solidFill>
            <a:srgbClr val="B7192E"/>
          </a:solidFill>
          <a:ln w="12700">
            <a:solidFill>
              <a:srgbClr val="B719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91640" y="2148840"/>
            <a:ext cx="82296" cy="82296"/>
          </a:xfrm>
          <a:prstGeom prst="ellipse">
            <a:avLst/>
          </a:prstGeom>
          <a:solidFill>
            <a:srgbClr val="A9C5D7"/>
          </a:solidFill>
          <a:ln w="12700">
            <a:solidFill>
              <a:srgbClr val="A9C5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01752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实习答辩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12648" y="3474720"/>
            <a:ext cx="14630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kern="0" spc="200" dirty="0">
                <a:solidFill>
                  <a:srgbClr val="B8C7D1"/>
                </a:solidFill>
              </a:rPr>
              <a:t>PRESENTATION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4251960" y="1965960"/>
            <a:ext cx="69494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32D"/>
                </a:solidFill>
              </a:rPr>
              <a:t>跨智能体协同执行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18232D"/>
                </a:solidFill>
              </a:rPr>
              <a:t>智能监控与结果筛选优化研究</a:t>
            </a:r>
            <a:endParaRPr lang="en-US" altLang="zh-CN" sz="16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270248" y="3246120"/>
            <a:ext cx="6309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27D"/>
                </a:solidFill>
              </a:rPr>
              <a:t>从“多 Agent 能运行”到“执行可观测、结果可评价、输出可择优”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70248" y="3767328"/>
            <a:ext cx="960120" cy="0"/>
          </a:xfrm>
          <a:prstGeom prst="line">
            <a:avLst/>
          </a:prstGeom>
          <a:noFill/>
          <a:ln w="25400">
            <a:solidFill>
              <a:srgbClr val="B719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70248" y="4114800"/>
            <a:ext cx="58521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27D"/>
                </a:solidFill>
              </a:rPr>
              <a:t>汇报人：</a:t>
            </a:r>
            <a:r>
              <a:rPr lang="en-US" sz="1000" dirty="0">
                <a:solidFill>
                  <a:srgbClr val="66727D"/>
                </a:solidFill>
              </a:rPr>
              <a:t>谢佳妮    实习部门：电 商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727D"/>
                </a:solidFill>
              </a:rPr>
              <a:t>实习时间：2026.07.08-2026.09.08</a:t>
            </a:r>
            <a:endParaRPr lang="zh-CN" altLang="en-US" sz="1000" dirty="0">
              <a:solidFill>
                <a:srgbClr val="66727D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192E"/>
          </a:solidFill>
          <a:ln w="12700">
            <a:solidFill>
              <a:srgbClr val="B719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19202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B719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 实习内容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8232D"/>
                </a:solidFill>
              </a:rPr>
              <a:t>实习工作概览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27D"/>
                </a:solidFill>
              </a:rPr>
              <a:t>围绕 Multi-Agent 协同与 AI 应用工程，完成从技术调研到原型落地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6556248"/>
            <a:ext cx="621792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9AA4AD"/>
                </a:solidFill>
              </a:rPr>
              <a:t>实习答辩  ·  跨智能体协同执行智能监控与结果筛选优化研究</a:t>
            </a:r>
            <a:endParaRPr lang="en-US" sz="5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3429000" cy="4224528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0160">
            <a:solidFill>
              <a:srgbClr val="DDE3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481328"/>
            <a:ext cx="41148" cy="4224528"/>
          </a:xfrm>
          <a:prstGeom prst="rect">
            <a:avLst/>
          </a:prstGeom>
          <a:solidFill>
            <a:srgbClr val="B7192E"/>
          </a:solidFill>
          <a:ln w="12700">
            <a:solidFill>
              <a:srgbClr val="B719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75564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7192E"/>
                </a:solidFill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70432" y="1673352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232D"/>
                </a:solidFill>
              </a:rPr>
              <a:t>技术调研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4672" y="2331720"/>
            <a:ext cx="2880360" cy="14173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8232D"/>
                </a:solidFill>
              </a:rPr>
              <a:t>Multi-Agent 协同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8232D"/>
                </a:solidFill>
              </a:rPr>
              <a:t>LangGraph 工作流编排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8232D"/>
                </a:solidFill>
              </a:rPr>
              <a:t>LLM 应用开发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8232D"/>
                </a:solidFill>
              </a:rPr>
              <a:t>Agent 可观测性与质量控制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4672" y="4096512"/>
            <a:ext cx="2788920" cy="0"/>
          </a:xfrm>
          <a:prstGeom prst="line">
            <a:avLst/>
          </a:prstGeom>
          <a:noFill/>
          <a:ln w="10160">
            <a:solidFill>
              <a:srgbClr val="DDE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4370832"/>
            <a:ext cx="2816352" cy="7315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27D"/>
                </a:solidFill>
              </a:rPr>
              <a:t>从“如何协同”进一步关注“如何监控、如何评价”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70832" y="1481328"/>
            <a:ext cx="3429000" cy="4224528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0160">
            <a:solidFill>
              <a:srgbClr val="DDE3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70832" y="1481328"/>
            <a:ext cx="41148" cy="42245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75564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92624" y="1673352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232D"/>
                </a:solidFill>
              </a:rPr>
              <a:t>核心项目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26864" y="2331720"/>
            <a:ext cx="2880360" cy="14173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</a:rPr>
              <a:t>跨智能体协同执行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</a:rPr>
              <a:t>智能监控与结果筛选优化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26864" y="4096512"/>
            <a:ext cx="2788920" cy="0"/>
          </a:xfrm>
          <a:prstGeom prst="line">
            <a:avLst/>
          </a:prstGeom>
          <a:noFill/>
          <a:ln w="10160">
            <a:solidFill>
              <a:srgbClr val="DDE3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26864" y="4370832"/>
            <a:ext cx="2816352" cy="7315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27D"/>
                </a:solidFill>
              </a:rPr>
              <a:t>零侵入 Trace 采集 · 三层异常检测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6727D"/>
                </a:solidFill>
              </a:rPr>
              <a:t>五维质量评价 · 3 候选择优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193024" y="1481328"/>
            <a:ext cx="3429000" cy="4224528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0160">
            <a:solidFill>
              <a:srgbClr val="DDE3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93024" y="1481328"/>
            <a:ext cx="41148" cy="4224528"/>
          </a:xfrm>
          <a:prstGeom prst="rect">
            <a:avLst/>
          </a:prstGeom>
          <a:solidFill>
            <a:srgbClr val="16836D"/>
          </a:solidFill>
          <a:ln w="12700">
            <a:solidFill>
              <a:srgbClr val="16836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94192" y="175564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836D"/>
                </a:solidFill>
              </a:rPr>
              <a:t>03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814816" y="1673352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232D"/>
                </a:solidFill>
              </a:rPr>
              <a:t>工程实践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49056" y="2331720"/>
            <a:ext cx="2880360" cy="14173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8232D"/>
                </a:solidFill>
              </a:rPr>
              <a:t>FastAPI + LangGraph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8232D"/>
                </a:solidFill>
              </a:rPr>
              <a:t>PostgreSQL + WebSocket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8232D"/>
                </a:solidFill>
              </a:rPr>
              <a:t>React + TypeScript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8232D"/>
                </a:solidFill>
              </a:rPr>
              <a:t>自动化测试 + CI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449056" y="4096512"/>
            <a:ext cx="2788920" cy="0"/>
          </a:xfrm>
          <a:prstGeom prst="line">
            <a:avLst/>
          </a:prstGeom>
          <a:noFill/>
          <a:ln w="10160">
            <a:solidFill>
              <a:srgbClr val="DDE3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49056" y="4370832"/>
            <a:ext cx="2816352" cy="7315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27D"/>
                </a:solidFill>
              </a:rPr>
              <a:t>覆盖后端、工作流、数据层与前端联调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148840" y="5925312"/>
            <a:ext cx="7909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</a:rPr>
              <a:t>实习主线：调研 → 设计 → 开发 → 联调 → 演示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192E"/>
          </a:solidFill>
          <a:ln w="12700">
            <a:solidFill>
              <a:srgbClr val="B719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19202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B719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 核心项目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8232D"/>
                </a:solidFill>
              </a:rPr>
              <a:t>为什么要做跨智能体执行监控与结果筛选？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27D"/>
                </a:solidFill>
              </a:rPr>
              <a:t>从“多 Agent 能跑起来”，进一步解决过程黑盒、异常难定位与结果不稳定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6556248"/>
            <a:ext cx="621792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9AA4AD"/>
                </a:solidFill>
              </a:rPr>
              <a:t>实习答辩  ·  跨智能体协同执行智能监控与结果筛选优化研究</a:t>
            </a:r>
            <a:endParaRPr lang="en-US" sz="550" dirty="0"/>
          </a:p>
        </p:txBody>
      </p:sp>
      <p:sp>
        <p:nvSpPr>
          <p:cNvPr id="7" name="Shape 5"/>
          <p:cNvSpPr/>
          <p:nvPr/>
        </p:nvSpPr>
        <p:spPr>
          <a:xfrm>
            <a:off x="640080" y="1481328"/>
            <a:ext cx="3456432" cy="3977640"/>
          </a:xfrm>
          <a:prstGeom prst="roundRect">
            <a:avLst>
              <a:gd name="adj" fmla="val 1323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737360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25880" y="1664208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8232D"/>
                </a:solidFill>
              </a:rPr>
              <a:t>协同过程黑盒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14400" y="2304288"/>
            <a:ext cx="2852928" cy="9601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8232D"/>
                </a:solidFill>
              </a:rPr>
              <a:t>7 个 Agent 分工协作后，执行状态、输入输出和上下游关系分散在链路中。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96112" y="3566160"/>
            <a:ext cx="2880360" cy="1234440"/>
          </a:xfrm>
          <a:prstGeom prst="roundRect">
            <a:avLst>
              <a:gd name="adj" fmla="val 2963"/>
            </a:avLst>
          </a:prstGeom>
          <a:solidFill>
            <a:srgbClr val="F0F5F8"/>
          </a:solidFill>
          <a:ln w="12700">
            <a:solidFill>
              <a:srgbClr val="D7E2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3803904"/>
            <a:ext cx="2514600" cy="68580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</a:rPr>
              <a:t>出了问题：不知道卡在哪个 Agent，也难快速还原执行过程。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62272" y="1481328"/>
            <a:ext cx="3456432" cy="3977640"/>
          </a:xfrm>
          <a:prstGeom prst="roundRect">
            <a:avLst>
              <a:gd name="adj" fmla="val 1323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90872" y="1737360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6B35"/>
                </a:solidFill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48072" y="1664208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8232D"/>
                </a:solidFill>
              </a:rPr>
              <a:t>异常发现滞后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736592" y="2304288"/>
            <a:ext cx="2852928" cy="9601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8232D"/>
                </a:solidFill>
              </a:rPr>
              <a:t>Agent 可能超时、失败、循环、缺失节点、空输出，甚至产生违规表述。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18304" y="3566160"/>
            <a:ext cx="2880360" cy="1234440"/>
          </a:xfrm>
          <a:prstGeom prst="roundRect">
            <a:avLst>
              <a:gd name="adj" fmla="val 2963"/>
            </a:avLst>
          </a:prstGeom>
          <a:solidFill>
            <a:srgbClr val="FFF4EC"/>
          </a:solidFill>
          <a:ln w="12700">
            <a:solidFill>
              <a:srgbClr val="F0D3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01184" y="3803904"/>
            <a:ext cx="2514600" cy="68580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6B35"/>
                </a:solidFill>
              </a:rPr>
              <a:t>只靠人工翻日志：发现慢、定位慢，也无法实时告警。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84464" y="1481328"/>
            <a:ext cx="3456432" cy="3977640"/>
          </a:xfrm>
          <a:prstGeom prst="roundRect">
            <a:avLst>
              <a:gd name="adj" fmla="val 1323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13064" y="1737360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92E"/>
                </a:solidFill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970264" y="1664208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8232D"/>
                </a:solidFill>
              </a:rPr>
              <a:t>结果质量波动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558784" y="2304288"/>
            <a:ext cx="2852928" cy="9601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8232D"/>
                </a:solidFill>
              </a:rPr>
              <a:t>LLM 具有概率性；本项目还会由 3 个决策 Agent 并行生成不同策略候选。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540496" y="3566160"/>
            <a:ext cx="2880360" cy="1234440"/>
          </a:xfrm>
          <a:prstGeom prst="roundRect">
            <a:avLst>
              <a:gd name="adj" fmla="val 2963"/>
            </a:avLst>
          </a:prstGeom>
          <a:solidFill>
            <a:srgbClr val="FDEFF1"/>
          </a:solidFill>
          <a:ln w="12700">
            <a:solidFill>
              <a:srgbClr val="EECB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23376" y="3803904"/>
            <a:ext cx="2514600" cy="68580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7192E"/>
                </a:solidFill>
              </a:rPr>
              <a:t>只取第一次结果不够稳，需要评价、比较并择优。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057400" y="5687568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27D"/>
                </a:solidFill>
              </a:rPr>
              <a:t>因此，本项目把问题归纳为三个目标：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83480" y="5623560"/>
            <a:ext cx="1115568" cy="310896"/>
          </a:xfrm>
          <a:prstGeom prst="roundRect">
            <a:avLst>
              <a:gd name="adj" fmla="val 23529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5697474"/>
            <a:ext cx="111556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可观测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400800" y="5623560"/>
            <a:ext cx="1115568" cy="310896"/>
          </a:xfrm>
          <a:prstGeom prst="roundRect">
            <a:avLst>
              <a:gd name="adj" fmla="val 23529"/>
            </a:avLst>
          </a:prstGeom>
          <a:solidFill>
            <a:srgbClr val="16836D"/>
          </a:solidFill>
          <a:ln w="12700">
            <a:solidFill>
              <a:srgbClr val="16836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5697474"/>
            <a:ext cx="111556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可评价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818120" y="5623560"/>
            <a:ext cx="1115568" cy="310896"/>
          </a:xfrm>
          <a:prstGeom prst="roundRect">
            <a:avLst>
              <a:gd name="adj" fmla="val 23529"/>
            </a:avLst>
          </a:prstGeom>
          <a:solidFill>
            <a:srgbClr val="B7192E"/>
          </a:solidFill>
          <a:ln w="12700">
            <a:solidFill>
              <a:srgbClr val="B719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18120" y="5697474"/>
            <a:ext cx="111556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可择优</a:t>
            </a:r>
            <a:endParaRPr lang="en-US" sz="14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192E"/>
          </a:solidFill>
          <a:ln w="12700">
            <a:solidFill>
              <a:srgbClr val="B719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19202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B719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 核心项目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8232D"/>
                </a:solidFill>
              </a:rPr>
              <a:t>整体技术架构：七 Agent 协同 + 零侵入监控闭环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27D"/>
                </a:solidFill>
              </a:rPr>
              <a:t>固定 LangGraph 拓扑负责业务协同，监控平台通过事件适配器解耦接入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6556248"/>
            <a:ext cx="621792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9AA4AD"/>
                </a:solidFill>
              </a:rPr>
              <a:t>实习答辩  ·  跨智能体协同执行智能监控与结果筛选优化研究</a:t>
            </a:r>
            <a:endParaRPr lang="en-US" sz="55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430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4592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8232D"/>
                </a:solidFill>
              </a:rPr>
              <a:t>用户输入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74520" y="1481328"/>
            <a:ext cx="11887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16459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8232D"/>
                </a:solidFill>
              </a:rPr>
              <a:t>投顾服务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10128" y="1481328"/>
            <a:ext cx="14173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64592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8232D"/>
                </a:solidFill>
              </a:rPr>
              <a:t>LangGraph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8232D"/>
                </a:solidFill>
              </a:rPr>
              <a:t>固定拓扑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83480" y="1481328"/>
            <a:ext cx="14173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64592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8232D"/>
                </a:solidFill>
              </a:rPr>
              <a:t>七 Agent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8232D"/>
                </a:solidFill>
              </a:rPr>
              <a:t>协同执行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332720" y="1481328"/>
            <a:ext cx="1325880" cy="658368"/>
          </a:xfrm>
          <a:prstGeom prst="roundRect">
            <a:avLst>
              <a:gd name="adj" fmla="val 6944"/>
            </a:avLst>
          </a:prstGeom>
          <a:solidFill>
            <a:srgbClr val="FDECEF"/>
          </a:solidFill>
          <a:ln w="12700">
            <a:solidFill>
              <a:srgbClr val="B719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32720" y="1645920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7192E"/>
                </a:solidFill>
              </a:rPr>
              <a:t>结果输出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645920" y="1810512"/>
            <a:ext cx="228600" cy="0"/>
          </a:xfrm>
          <a:prstGeom prst="line">
            <a:avLst/>
          </a:prstGeom>
          <a:noFill/>
          <a:ln w="15240">
            <a:solidFill>
              <a:srgbClr val="98A6B3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063240" y="1810512"/>
            <a:ext cx="246888" cy="0"/>
          </a:xfrm>
          <a:prstGeom prst="line">
            <a:avLst/>
          </a:prstGeom>
          <a:noFill/>
          <a:ln w="15240">
            <a:solidFill>
              <a:srgbClr val="98A6B3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727448" y="1810512"/>
            <a:ext cx="256032" cy="0"/>
          </a:xfrm>
          <a:prstGeom prst="line">
            <a:avLst/>
          </a:prstGeom>
          <a:noFill/>
          <a:ln w="15240">
            <a:solidFill>
              <a:srgbClr val="98A6B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800600" y="2514600"/>
            <a:ext cx="1051560" cy="438912"/>
          </a:xfrm>
          <a:prstGeom prst="roundRect">
            <a:avLst>
              <a:gd name="adj" fmla="val 8333"/>
            </a:avLst>
          </a:prstGeom>
          <a:solidFill>
            <a:srgbClr val="F0F5F8"/>
          </a:solidFill>
          <a:ln w="12700">
            <a:solidFill>
              <a:srgbClr val="C9D6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642616"/>
            <a:ext cx="1051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1F4E79"/>
                </a:solidFill>
              </a:rPr>
              <a:t>数据采集</a:t>
            </a:r>
            <a:endParaRPr lang="en-US" sz="690" dirty="0"/>
          </a:p>
        </p:txBody>
      </p:sp>
      <p:sp>
        <p:nvSpPr>
          <p:cNvPr id="22" name="Shape 20"/>
          <p:cNvSpPr/>
          <p:nvPr/>
        </p:nvSpPr>
        <p:spPr>
          <a:xfrm>
            <a:off x="6053328" y="2514600"/>
            <a:ext cx="1051560" cy="438912"/>
          </a:xfrm>
          <a:prstGeom prst="roundRect">
            <a:avLst>
              <a:gd name="adj" fmla="val 8333"/>
            </a:avLst>
          </a:prstGeom>
          <a:solidFill>
            <a:srgbClr val="F0F5F8"/>
          </a:solidFill>
          <a:ln w="12700">
            <a:solidFill>
              <a:srgbClr val="C9D6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53328" y="2642616"/>
            <a:ext cx="1051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1F4E79"/>
                </a:solidFill>
              </a:rPr>
              <a:t>技术分析</a:t>
            </a:r>
            <a:endParaRPr lang="en-US" sz="690" dirty="0"/>
          </a:p>
        </p:txBody>
      </p:sp>
      <p:sp>
        <p:nvSpPr>
          <p:cNvPr id="24" name="Shape 22"/>
          <p:cNvSpPr/>
          <p:nvPr/>
        </p:nvSpPr>
        <p:spPr>
          <a:xfrm>
            <a:off x="7360920" y="2514600"/>
            <a:ext cx="1051560" cy="438912"/>
          </a:xfrm>
          <a:prstGeom prst="roundRect">
            <a:avLst>
              <a:gd name="adj" fmla="val 8333"/>
            </a:avLst>
          </a:prstGeom>
          <a:solidFill>
            <a:srgbClr val="F0F5F8"/>
          </a:solidFill>
          <a:ln w="12700">
            <a:solidFill>
              <a:srgbClr val="C9D6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60920" y="2642616"/>
            <a:ext cx="1051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1F4E79"/>
                </a:solidFill>
              </a:rPr>
              <a:t>基本面分析</a:t>
            </a:r>
            <a:endParaRPr lang="en-US" sz="690" dirty="0"/>
          </a:p>
        </p:txBody>
      </p:sp>
      <p:sp>
        <p:nvSpPr>
          <p:cNvPr id="26" name="Shape 24"/>
          <p:cNvSpPr/>
          <p:nvPr/>
        </p:nvSpPr>
        <p:spPr>
          <a:xfrm>
            <a:off x="8705088" y="2514600"/>
            <a:ext cx="1051560" cy="438912"/>
          </a:xfrm>
          <a:prstGeom prst="roundRect">
            <a:avLst>
              <a:gd name="adj" fmla="val 8333"/>
            </a:avLst>
          </a:prstGeom>
          <a:solidFill>
            <a:srgbClr val="F0F5F8"/>
          </a:solidFill>
          <a:ln w="12700">
            <a:solidFill>
              <a:srgbClr val="C9D6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05088" y="2642616"/>
            <a:ext cx="1051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1F4E79"/>
                </a:solidFill>
              </a:rPr>
              <a:t>风险评估</a:t>
            </a:r>
            <a:endParaRPr lang="en-US" sz="690" dirty="0"/>
          </a:p>
        </p:txBody>
      </p:sp>
      <p:sp>
        <p:nvSpPr>
          <p:cNvPr id="28" name="Shape 26"/>
          <p:cNvSpPr/>
          <p:nvPr/>
        </p:nvSpPr>
        <p:spPr>
          <a:xfrm>
            <a:off x="7360920" y="3429000"/>
            <a:ext cx="1051560" cy="438912"/>
          </a:xfrm>
          <a:prstGeom prst="roundRect">
            <a:avLst>
              <a:gd name="adj" fmla="val 8333"/>
            </a:avLst>
          </a:prstGeom>
          <a:solidFill>
            <a:srgbClr val="FFF3F0"/>
          </a:solidFill>
          <a:ln w="12700">
            <a:solidFill>
              <a:srgbClr val="E5B8A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60920" y="3557016"/>
            <a:ext cx="1051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B7192E"/>
                </a:solidFill>
              </a:rPr>
              <a:t>价值投资</a:t>
            </a:r>
            <a:endParaRPr lang="en-US" sz="690" dirty="0"/>
          </a:p>
        </p:txBody>
      </p:sp>
      <p:sp>
        <p:nvSpPr>
          <p:cNvPr id="30" name="Shape 28"/>
          <p:cNvSpPr/>
          <p:nvPr/>
        </p:nvSpPr>
        <p:spPr>
          <a:xfrm>
            <a:off x="8705088" y="3429000"/>
            <a:ext cx="1051560" cy="438912"/>
          </a:xfrm>
          <a:prstGeom prst="roundRect">
            <a:avLst>
              <a:gd name="adj" fmla="val 8333"/>
            </a:avLst>
          </a:prstGeom>
          <a:solidFill>
            <a:srgbClr val="FFF3F0"/>
          </a:solidFill>
          <a:ln w="12700">
            <a:solidFill>
              <a:srgbClr val="E5B8A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05088" y="3557016"/>
            <a:ext cx="1051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B7192E"/>
                </a:solidFill>
              </a:rPr>
              <a:t>趋势交易</a:t>
            </a:r>
            <a:endParaRPr lang="en-US" sz="690" dirty="0"/>
          </a:p>
        </p:txBody>
      </p:sp>
      <p:sp>
        <p:nvSpPr>
          <p:cNvPr id="32" name="Shape 30"/>
          <p:cNvSpPr/>
          <p:nvPr/>
        </p:nvSpPr>
        <p:spPr>
          <a:xfrm>
            <a:off x="10049256" y="3429000"/>
            <a:ext cx="1051560" cy="438912"/>
          </a:xfrm>
          <a:prstGeom prst="roundRect">
            <a:avLst>
              <a:gd name="adj" fmla="val 8333"/>
            </a:avLst>
          </a:prstGeom>
          <a:solidFill>
            <a:srgbClr val="FFF3F0"/>
          </a:solidFill>
          <a:ln w="12700">
            <a:solidFill>
              <a:srgbClr val="E5B8A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49256" y="3557016"/>
            <a:ext cx="1051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B7192E"/>
                </a:solidFill>
              </a:rPr>
              <a:t>综合决策</a:t>
            </a:r>
            <a:endParaRPr lang="en-US" sz="690" dirty="0"/>
          </a:p>
        </p:txBody>
      </p:sp>
      <p:sp>
        <p:nvSpPr>
          <p:cNvPr id="34" name="Shape 32"/>
          <p:cNvSpPr/>
          <p:nvPr/>
        </p:nvSpPr>
        <p:spPr>
          <a:xfrm>
            <a:off x="5852160" y="2734056"/>
            <a:ext cx="201168" cy="0"/>
          </a:xfrm>
          <a:prstGeom prst="line">
            <a:avLst/>
          </a:prstGeom>
          <a:noFill/>
          <a:ln w="15240">
            <a:solidFill>
              <a:srgbClr val="98A6B3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105015" y="2734310"/>
            <a:ext cx="255905" cy="635"/>
          </a:xfrm>
          <a:prstGeom prst="line">
            <a:avLst/>
          </a:prstGeom>
          <a:noFill/>
          <a:ln w="15240">
            <a:solidFill>
              <a:srgbClr val="98A6B3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 flipH="1">
            <a:off x="7884795" y="2936240"/>
            <a:ext cx="992505" cy="490220"/>
          </a:xfrm>
          <a:prstGeom prst="line">
            <a:avLst/>
          </a:prstGeom>
          <a:noFill/>
          <a:ln w="15240">
            <a:solidFill>
              <a:srgbClr val="98A6B3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241155" y="2936240"/>
            <a:ext cx="635" cy="492760"/>
          </a:xfrm>
          <a:prstGeom prst="line">
            <a:avLst/>
          </a:prstGeom>
          <a:noFill/>
          <a:ln w="15240">
            <a:solidFill>
              <a:srgbClr val="98A6B3"/>
            </a:solidFill>
            <a:prstDash val="solid"/>
            <a:headEnd type="none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7360920" y="4070858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7192E"/>
                </a:solidFill>
              </a:rPr>
              <a:t>3 个并行候选决策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77240" y="4572000"/>
            <a:ext cx="10652760" cy="1024128"/>
          </a:xfrm>
          <a:prstGeom prst="roundRect">
            <a:avLst>
              <a:gd name="adj" fmla="val 5357"/>
            </a:avLst>
          </a:prstGeom>
          <a:solidFill>
            <a:srgbClr val="EAF4F1"/>
          </a:solidFill>
          <a:ln w="12700">
            <a:solidFill>
              <a:srgbClr val="B7D9C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0120" y="4736592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836D"/>
                </a:solidFill>
              </a:rPr>
              <a:t>低侵入监控层</a:t>
            </a:r>
            <a:endParaRPr lang="zh-CN" altLang="en-US" sz="1000" b="1" dirty="0">
              <a:solidFill>
                <a:srgbClr val="16836D"/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960120" y="5047488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66727D"/>
                </a:solidFill>
              </a:rPr>
              <a:t>astream_events → 标准 TraceRecord</a:t>
            </a:r>
            <a:endParaRPr lang="en-US" sz="740" dirty="0"/>
          </a:p>
        </p:txBody>
      </p:sp>
      <p:sp>
        <p:nvSpPr>
          <p:cNvPr id="42" name="Shape 40"/>
          <p:cNvSpPr/>
          <p:nvPr/>
        </p:nvSpPr>
        <p:spPr>
          <a:xfrm>
            <a:off x="3383280" y="4901184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83280" y="4956048"/>
            <a:ext cx="1417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Trace 采集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5074920" y="4901184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74920" y="4956048"/>
            <a:ext cx="1417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三层异常检测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6903720" y="4901184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03720" y="4956048"/>
            <a:ext cx="1417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五维质量评价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8732520" y="4901184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732520" y="4956048"/>
            <a:ext cx="1417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候选筛选 / 反馈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3337560" y="5340096"/>
            <a:ext cx="7132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66727D"/>
                </a:solidFill>
              </a:rPr>
              <a:t>PostgreSQL 持久化  ·  WebSocket 实时推送  ·  Dashboard 可视化</a:t>
            </a:r>
            <a:endParaRPr lang="en-US" sz="740" dirty="0"/>
          </a:p>
        </p:txBody>
      </p:sp>
      <p:sp>
        <p:nvSpPr>
          <p:cNvPr id="51" name="Text 49"/>
          <p:cNvSpPr/>
          <p:nvPr/>
        </p:nvSpPr>
        <p:spPr>
          <a:xfrm>
            <a:off x="1828800" y="587044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836D"/>
                </a:solidFill>
              </a:rPr>
              <a:t>关键设计：业务 Demo 不 import 监控代码；更换业务场景时，监控平台无需重写</a:t>
            </a:r>
            <a:endParaRPr lang="en-US" sz="950" dirty="0"/>
          </a:p>
        </p:txBody>
      </p:sp>
      <p:sp>
        <p:nvSpPr>
          <p:cNvPr id="52" name="Shape 33"/>
          <p:cNvSpPr/>
          <p:nvPr/>
        </p:nvSpPr>
        <p:spPr>
          <a:xfrm>
            <a:off x="8403590" y="2734310"/>
            <a:ext cx="328930" cy="635"/>
          </a:xfrm>
          <a:prstGeom prst="line">
            <a:avLst/>
          </a:prstGeom>
          <a:noFill/>
          <a:ln w="15240">
            <a:solidFill>
              <a:srgbClr val="98A6B3"/>
            </a:solidFill>
            <a:prstDash val="solid"/>
            <a:headEnd type="none"/>
            <a:tailEnd type="triangle"/>
          </a:ln>
        </p:spPr>
      </p:sp>
      <p:sp>
        <p:nvSpPr>
          <p:cNvPr id="53" name="Shape 35"/>
          <p:cNvSpPr/>
          <p:nvPr/>
        </p:nvSpPr>
        <p:spPr>
          <a:xfrm>
            <a:off x="9566275" y="2950845"/>
            <a:ext cx="973455" cy="475615"/>
          </a:xfrm>
          <a:prstGeom prst="line">
            <a:avLst/>
          </a:prstGeom>
          <a:noFill/>
          <a:ln w="15240">
            <a:solidFill>
              <a:srgbClr val="98A6B3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192E"/>
          </a:solidFill>
          <a:ln w="12700">
            <a:solidFill>
              <a:srgbClr val="B719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19202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B719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 核心项目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8232D"/>
                </a:solidFill>
              </a:rPr>
              <a:t>智能监控：从“最终结果”下钻到“执行过程”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27D"/>
                </a:solidFill>
              </a:rPr>
              <a:t>零侵入采集 + 规则异常监控 + 实时可视化 + 合规拦截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6556248"/>
            <a:ext cx="621792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9AA4AD"/>
                </a:solidFill>
              </a:rPr>
              <a:t>实习答辩  ·  跨智能体协同执行智能监控与结果筛选优化研究</a:t>
            </a:r>
            <a:endParaRPr lang="en-US" sz="550" dirty="0"/>
          </a:p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658368" y="1417320"/>
            <a:ext cx="841248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8" name="Text 6"/>
          <p:cNvSpPr/>
          <p:nvPr>
            <p:custDataLst>
              <p:tags r:id="rId2"/>
            </p:custDataLst>
          </p:nvPr>
        </p:nvSpPr>
        <p:spPr>
          <a:xfrm>
            <a:off x="868680" y="1563624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</a:rPr>
              <a:t>执行状态采集</a:t>
            </a:r>
            <a:endParaRPr lang="en-US" sz="1000" dirty="0"/>
          </a:p>
        </p:txBody>
      </p:sp>
      <p:sp>
        <p:nvSpPr>
          <p:cNvPr id="9" name="Text 7"/>
          <p:cNvSpPr/>
          <p:nvPr>
            <p:custDataLst>
              <p:tags r:id="rId3"/>
            </p:custDataLst>
          </p:nvPr>
        </p:nvSpPr>
        <p:spPr>
          <a:xfrm>
            <a:off x="2468880" y="1563624"/>
            <a:ext cx="4343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8232D"/>
                </a:solidFill>
              </a:rPr>
              <a:t>起止时间 / 输入输出 / 耗时 / Token / 状态 / 父子关系</a:t>
            </a:r>
            <a:endParaRPr lang="en-US" sz="1200" dirty="0"/>
          </a:p>
        </p:txBody>
      </p:sp>
      <p:sp>
        <p:nvSpPr>
          <p:cNvPr id="10" name="Text 8"/>
          <p:cNvSpPr/>
          <p:nvPr>
            <p:custDataLst>
              <p:tags r:id="rId4"/>
            </p:custDataLst>
          </p:nvPr>
        </p:nvSpPr>
        <p:spPr>
          <a:xfrm>
            <a:off x="6995160" y="156362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66727D"/>
                </a:solidFill>
              </a:rPr>
              <a:t>回答：谁在跑、跑到哪一步？</a:t>
            </a:r>
            <a:endParaRPr lang="en-US" sz="1000" dirty="0"/>
          </a:p>
        </p:txBody>
      </p:sp>
      <p:sp>
        <p:nvSpPr>
          <p:cNvPr id="11" name="Shape 9"/>
          <p:cNvSpPr/>
          <p:nvPr>
            <p:custDataLst>
              <p:tags r:id="rId5"/>
            </p:custDataLst>
          </p:nvPr>
        </p:nvSpPr>
        <p:spPr>
          <a:xfrm>
            <a:off x="658368" y="2404872"/>
            <a:ext cx="841248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6"/>
            </p:custDataLst>
          </p:nvPr>
        </p:nvSpPr>
        <p:spPr>
          <a:xfrm>
            <a:off x="868680" y="2551176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</a:rPr>
              <a:t>三层异常检测</a:t>
            </a:r>
            <a:endParaRPr lang="en-US" sz="1000" dirty="0"/>
          </a:p>
        </p:txBody>
      </p:sp>
      <p:sp>
        <p:nvSpPr>
          <p:cNvPr id="13" name="Text 11"/>
          <p:cNvSpPr/>
          <p:nvPr>
            <p:custDataLst>
              <p:tags r:id="rId7"/>
            </p:custDataLst>
          </p:nvPr>
        </p:nvSpPr>
        <p:spPr>
          <a:xfrm>
            <a:off x="2468880" y="2551176"/>
            <a:ext cx="4343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8232D"/>
                </a:solidFill>
              </a:rPr>
              <a:t>执行层：超时/失败  ·  行为层：循环/缺节点  ·  输出层：空输出</a:t>
            </a:r>
            <a:endParaRPr lang="en-US" sz="1200" dirty="0"/>
          </a:p>
        </p:txBody>
      </p:sp>
      <p:sp>
        <p:nvSpPr>
          <p:cNvPr id="14" name="Text 12"/>
          <p:cNvSpPr/>
          <p:nvPr>
            <p:custDataLst>
              <p:tags r:id="rId8"/>
            </p:custDataLst>
          </p:nvPr>
        </p:nvSpPr>
        <p:spPr>
          <a:xfrm>
            <a:off x="6995160" y="255117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66727D"/>
                </a:solidFill>
              </a:rPr>
              <a:t>回答：执行过程是否异常？</a:t>
            </a:r>
            <a:endParaRPr lang="en-US" sz="1000" dirty="0"/>
          </a:p>
        </p:txBody>
      </p:sp>
      <p:sp>
        <p:nvSpPr>
          <p:cNvPr id="15" name="Shape 13"/>
          <p:cNvSpPr/>
          <p:nvPr>
            <p:custDataLst>
              <p:tags r:id="rId9"/>
            </p:custDataLst>
          </p:nvPr>
        </p:nvSpPr>
        <p:spPr>
          <a:xfrm>
            <a:off x="658368" y="3392424"/>
            <a:ext cx="841248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6" name="Text 14"/>
          <p:cNvSpPr/>
          <p:nvPr>
            <p:custDataLst>
              <p:tags r:id="rId10"/>
            </p:custDataLst>
          </p:nvPr>
        </p:nvSpPr>
        <p:spPr>
          <a:xfrm>
            <a:off x="868680" y="3538728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92E"/>
                </a:solidFill>
              </a:rPr>
              <a:t>合规与发布检查</a:t>
            </a:r>
            <a:endParaRPr lang="en-US" sz="1000" dirty="0"/>
          </a:p>
        </p:txBody>
      </p:sp>
      <p:sp>
        <p:nvSpPr>
          <p:cNvPr id="17" name="Text 15"/>
          <p:cNvSpPr/>
          <p:nvPr>
            <p:custDataLst>
              <p:tags r:id="rId11"/>
            </p:custDataLst>
          </p:nvPr>
        </p:nvSpPr>
        <p:spPr>
          <a:xfrm>
            <a:off x="2468880" y="3538728"/>
            <a:ext cx="4343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8232D"/>
                </a:solidFill>
              </a:rPr>
              <a:t>敏感词库句级检测；命中句标红、拦截并记录告警</a:t>
            </a:r>
            <a:endParaRPr lang="en-US" sz="1200" dirty="0"/>
          </a:p>
        </p:txBody>
      </p:sp>
      <p:sp>
        <p:nvSpPr>
          <p:cNvPr id="18" name="Text 16"/>
          <p:cNvSpPr/>
          <p:nvPr>
            <p:custDataLst>
              <p:tags r:id="rId12"/>
            </p:custDataLst>
          </p:nvPr>
        </p:nvSpPr>
        <p:spPr>
          <a:xfrm>
            <a:off x="6995160" y="353872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66727D"/>
                </a:solidFill>
              </a:rPr>
              <a:t>回答：结果能不能对外发布？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" y="4379976"/>
            <a:ext cx="841248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0" name="Text 18"/>
          <p:cNvSpPr/>
          <p:nvPr>
            <p:custDataLst>
              <p:tags r:id="rId13"/>
            </p:custDataLst>
          </p:nvPr>
        </p:nvSpPr>
        <p:spPr>
          <a:xfrm>
            <a:off x="868680" y="4526280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</a:rPr>
              <a:t>实时可视化</a:t>
            </a:r>
            <a:endParaRPr lang="en-US" sz="1000" dirty="0"/>
          </a:p>
        </p:txBody>
      </p:sp>
      <p:sp>
        <p:nvSpPr>
          <p:cNvPr id="21" name="Text 19"/>
          <p:cNvSpPr/>
          <p:nvPr>
            <p:custDataLst>
              <p:tags r:id="rId14"/>
            </p:custDataLst>
          </p:nvPr>
        </p:nvSpPr>
        <p:spPr>
          <a:xfrm>
            <a:off x="2468880" y="4526280"/>
            <a:ext cx="4343400" cy="3276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8232D"/>
                </a:solidFill>
              </a:rPr>
              <a:t>Trace 入库后通过 WebSocket 推送 Dashboard，展示拓扑、链路与告警</a:t>
            </a:r>
            <a:endParaRPr lang="en-US" sz="1200" dirty="0"/>
          </a:p>
        </p:txBody>
      </p:sp>
      <p:sp>
        <p:nvSpPr>
          <p:cNvPr id="22" name="Text 20"/>
          <p:cNvSpPr/>
          <p:nvPr>
            <p:custDataLst>
              <p:tags r:id="rId15"/>
            </p:custDataLst>
          </p:nvPr>
        </p:nvSpPr>
        <p:spPr>
          <a:xfrm>
            <a:off x="6995160" y="45262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66727D"/>
                </a:solidFill>
              </a:rPr>
              <a:t>回答：能否实时定位和回溯？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372600" y="1417320"/>
            <a:ext cx="2148840" cy="3712464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0160">
            <a:solidFill>
              <a:srgbClr val="DDE3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72600" y="1417320"/>
            <a:ext cx="32004" cy="3712464"/>
          </a:xfrm>
          <a:prstGeom prst="rect">
            <a:avLst/>
          </a:prstGeom>
          <a:solidFill>
            <a:srgbClr val="B7192E"/>
          </a:solidFill>
          <a:ln w="12700">
            <a:solidFill>
              <a:srgbClr val="B719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37192" y="158191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232D"/>
                </a:solidFill>
              </a:rPr>
              <a:t>异常处理边界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537192" y="1984248"/>
            <a:ext cx="1819656" cy="29992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0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6727D"/>
                </a:solidFill>
              </a:rPr>
              <a:t>• 异常检测以规则扫描为主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6727D"/>
                </a:solidFill>
              </a:rPr>
              <a:t>• 无显式 Retry 机制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6727D"/>
                </a:solidFill>
              </a:rPr>
              <a:t>• LLM 评价失败时采用降级兜底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6727D"/>
                </a:solidFill>
              </a:rPr>
              <a:t>• LangGraph 使用内存 State，不宣称 Checkpoint 持久化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371600" y="5532120"/>
            <a:ext cx="7498080" cy="457200"/>
          </a:xfrm>
          <a:prstGeom prst="roundRect">
            <a:avLst>
              <a:gd name="adj" fmla="val 10000"/>
            </a:avLst>
          </a:prstGeom>
          <a:solidFill>
            <a:srgbClr val="E9F2F8"/>
          </a:solidFill>
          <a:ln w="12700">
            <a:solidFill>
              <a:srgbClr val="C9DC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71600" y="5669280"/>
            <a:ext cx="7498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4E79"/>
                </a:solidFill>
              </a:rPr>
              <a:t>Agent 执行 → astream_events → TraceRecord → PostgreSQL → 监控管线 → WebSocket → Dashboard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192E"/>
          </a:solidFill>
          <a:ln w="12700">
            <a:solidFill>
              <a:srgbClr val="B719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19202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B719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 核心项目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8232D"/>
                </a:solidFill>
              </a:rPr>
              <a:t>结果筛选优化：从“三个候选”得到“更可信的推荐”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27D"/>
                </a:solidFill>
              </a:rPr>
              <a:t>规则约束 + LLM-as-Judge 双层评价，不直接相信第一次生成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6556248"/>
            <a:ext cx="621792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9AA4AD"/>
                </a:solidFill>
              </a:rPr>
              <a:t>实习答辩  ·  跨智能体协同执行智能监控与结果筛选优化研究</a:t>
            </a:r>
            <a:endParaRPr lang="en-US" sz="550" dirty="0"/>
          </a:p>
        </p:txBody>
      </p:sp>
      <p:sp>
        <p:nvSpPr>
          <p:cNvPr id="7" name="Shape 5"/>
          <p:cNvSpPr/>
          <p:nvPr/>
        </p:nvSpPr>
        <p:spPr>
          <a:xfrm>
            <a:off x="685800" y="1508760"/>
            <a:ext cx="1828800" cy="438912"/>
          </a:xfrm>
          <a:prstGeom prst="roundRect">
            <a:avLst>
              <a:gd name="adj" fmla="val 8333"/>
            </a:avLst>
          </a:prstGeom>
          <a:solidFill>
            <a:srgbClr val="F0F5F8"/>
          </a:solidFill>
          <a:ln w="12700">
            <a:solidFill>
              <a:srgbClr val="C9D6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36776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4E79"/>
                </a:solidFill>
              </a:rPr>
              <a:t>价值投资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2240280"/>
            <a:ext cx="1828800" cy="438912"/>
          </a:xfrm>
          <a:prstGeom prst="roundRect">
            <a:avLst>
              <a:gd name="adj" fmla="val 8333"/>
            </a:avLst>
          </a:prstGeom>
          <a:solidFill>
            <a:srgbClr val="FFF3F0"/>
          </a:solidFill>
          <a:ln w="12700">
            <a:solidFill>
              <a:srgbClr val="E5B8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68296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7192E"/>
                </a:solidFill>
              </a:rPr>
              <a:t>趋势交易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85800" y="2971800"/>
            <a:ext cx="1828800" cy="438912"/>
          </a:xfrm>
          <a:prstGeom prst="roundRect">
            <a:avLst>
              <a:gd name="adj" fmla="val 8333"/>
            </a:avLst>
          </a:prstGeom>
          <a:solidFill>
            <a:srgbClr val="F0F5F8"/>
          </a:solidFill>
          <a:ln w="12700">
            <a:solidFill>
              <a:srgbClr val="C9D6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099816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4E79"/>
                </a:solidFill>
              </a:rPr>
              <a:t>综合决策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800" y="384048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27D"/>
                </a:solidFill>
              </a:rPr>
              <a:t>3 个并行候选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560320" y="2240280"/>
            <a:ext cx="640080" cy="0"/>
          </a:xfrm>
          <a:prstGeom prst="line">
            <a:avLst/>
          </a:prstGeom>
          <a:noFill/>
          <a:ln w="15240">
            <a:solidFill>
              <a:srgbClr val="98A6B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200400" y="1645920"/>
            <a:ext cx="1353312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DDE3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73552" y="1856232"/>
            <a:ext cx="12070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8232D"/>
                </a:solidFill>
              </a:rPr>
              <a:t>① 异常过滤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91840" y="2221992"/>
            <a:ext cx="117043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6727D"/>
                </a:solidFill>
              </a:rPr>
              <a:t>剔除超时 / 失败 / 违规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572000" y="2240280"/>
            <a:ext cx="246888" cy="0"/>
          </a:xfrm>
          <a:prstGeom prst="line">
            <a:avLst/>
          </a:prstGeom>
          <a:noFill/>
          <a:ln w="15240">
            <a:solidFill>
              <a:srgbClr val="98A6B3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828032" y="1645920"/>
            <a:ext cx="1353312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DDE3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01184" y="1856232"/>
            <a:ext cx="12070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8232D"/>
                </a:solidFill>
              </a:rPr>
              <a:t>② 质量排序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919472" y="2221992"/>
            <a:ext cx="117043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6727D"/>
                </a:solidFill>
              </a:rPr>
              <a:t>五维加权质量分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199632" y="2240280"/>
            <a:ext cx="246888" cy="0"/>
          </a:xfrm>
          <a:prstGeom prst="line">
            <a:avLst/>
          </a:prstGeom>
          <a:noFill/>
          <a:ln w="15240">
            <a:solidFill>
              <a:srgbClr val="98A6B3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455664" y="1645920"/>
            <a:ext cx="1353312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DDE3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28816" y="1856232"/>
            <a:ext cx="12070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8232D"/>
                </a:solidFill>
              </a:rPr>
              <a:t>③ 相似去重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547104" y="2221992"/>
            <a:ext cx="117043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6727D"/>
                </a:solidFill>
              </a:rPr>
              <a:t>减少重复候选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7827264" y="2240280"/>
            <a:ext cx="246888" cy="0"/>
          </a:xfrm>
          <a:prstGeom prst="line">
            <a:avLst/>
          </a:prstGeom>
          <a:noFill/>
          <a:ln w="15240">
            <a:solidFill>
              <a:srgbClr val="98A6B3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083296" y="1645920"/>
            <a:ext cx="1353312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5240">
            <a:solidFill>
              <a:srgbClr val="B719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56448" y="1856232"/>
            <a:ext cx="12070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7192E"/>
                </a:solidFill>
              </a:rPr>
              <a:t>④ 推荐标记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174736" y="2221992"/>
            <a:ext cx="117043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6727D"/>
                </a:solidFill>
              </a:rPr>
              <a:t>采纳 / 备选 / 存档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9646920" y="2240280"/>
            <a:ext cx="502920" cy="0"/>
          </a:xfrm>
          <a:prstGeom prst="line">
            <a:avLst/>
          </a:prstGeom>
          <a:noFill/>
          <a:ln w="15240">
            <a:solidFill>
              <a:srgbClr val="98A6B3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149840" y="1645920"/>
            <a:ext cx="1325880" cy="1188720"/>
          </a:xfrm>
          <a:prstGeom prst="roundRect">
            <a:avLst>
              <a:gd name="adj" fmla="val 3846"/>
            </a:avLst>
          </a:prstGeom>
          <a:solidFill>
            <a:srgbClr val="FDECEF"/>
          </a:solidFill>
          <a:ln w="12700">
            <a:solidFill>
              <a:srgbClr val="B719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49840" y="1965960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192E"/>
                </a:solidFill>
              </a:rPr>
              <a:t>最优结果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5800" y="4251960"/>
            <a:ext cx="512064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0160">
            <a:solidFill>
              <a:srgbClr val="DDE3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" y="4251960"/>
            <a:ext cx="32004" cy="13258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0392" y="4416552"/>
            <a:ext cx="4800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232D"/>
                </a:solidFill>
              </a:rPr>
              <a:t>五维质量评价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50392" y="4818888"/>
            <a:ext cx="4791456" cy="6126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6727D"/>
                </a:solidFill>
              </a:rPr>
              <a:t>合规性 30%  ·  准确性 25%  ·  完整性 20%  ·  相关性 15%  ·  时效性 10%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66727D"/>
                </a:solidFill>
              </a:rPr>
              <a:t>规则负责确定性检查，LLM-as-Judge 负责语义层评价。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6126480" y="4251960"/>
            <a:ext cx="534924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0160">
            <a:solidFill>
              <a:srgbClr val="DDE3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26480" y="4251960"/>
            <a:ext cx="32004" cy="1325880"/>
          </a:xfrm>
          <a:prstGeom prst="rect">
            <a:avLst/>
          </a:prstGeom>
          <a:solidFill>
            <a:srgbClr val="16836D"/>
          </a:solidFill>
          <a:ln w="12700">
            <a:solidFill>
              <a:srgbClr val="16836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91072" y="4416552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232D"/>
                </a:solidFill>
              </a:rPr>
              <a:t>反馈闭环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91072" y="4818888"/>
            <a:ext cx="5020056" cy="6126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6727D"/>
                </a:solidFill>
              </a:rPr>
              <a:t>质量不达标 → 生成面向 Agent 的反馈指令 → 写入动态指令库 → 下次执行回灌 Prompt。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66727D"/>
                </a:solidFill>
              </a:rPr>
              <a:t>指令可追踪、可覆盖、可删除，避免无限堆积。</a:t>
            </a:r>
            <a:endParaRPr lang="en-US" sz="920" dirty="0"/>
          </a:p>
        </p:txBody>
      </p:sp>
      <p:sp>
        <p:nvSpPr>
          <p:cNvPr id="41" name="Shape 12"/>
          <p:cNvSpPr/>
          <p:nvPr/>
        </p:nvSpPr>
        <p:spPr>
          <a:xfrm>
            <a:off x="2514600" y="1710055"/>
            <a:ext cx="675640" cy="349250"/>
          </a:xfrm>
          <a:prstGeom prst="line">
            <a:avLst/>
          </a:prstGeom>
          <a:noFill/>
          <a:ln w="15240">
            <a:solidFill>
              <a:srgbClr val="98A6B3"/>
            </a:solidFill>
            <a:prstDash val="solid"/>
            <a:headEnd type="none"/>
            <a:tailEnd type="triangle"/>
          </a:ln>
        </p:spPr>
      </p:sp>
      <p:sp>
        <p:nvSpPr>
          <p:cNvPr id="42" name="Shape 12"/>
          <p:cNvSpPr/>
          <p:nvPr/>
        </p:nvSpPr>
        <p:spPr>
          <a:xfrm flipV="1">
            <a:off x="2514600" y="2456180"/>
            <a:ext cx="667385" cy="735330"/>
          </a:xfrm>
          <a:prstGeom prst="line">
            <a:avLst/>
          </a:prstGeom>
          <a:noFill/>
          <a:ln w="15240">
            <a:solidFill>
              <a:srgbClr val="98A6B3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192E"/>
          </a:solidFill>
          <a:ln w="12700">
            <a:solidFill>
              <a:srgbClr val="B719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19202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B719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 核心项目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8232D"/>
                </a:solidFill>
              </a:rPr>
              <a:t>证券公司应用场景：价值不只在“答得快”，更在“可控可信”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27D"/>
                </a:solidFill>
              </a:rPr>
              <a:t>当前为原型系统，以下为能力与证券业务需求的匹配，不代表已生产落地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6556248"/>
            <a:ext cx="621792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9AA4AD"/>
                </a:solidFill>
              </a:rPr>
              <a:t>实习答辩  ·  跨智能体协同执行智能监控与结果筛选优化研究</a:t>
            </a:r>
            <a:endParaRPr lang="en-US" sz="550" dirty="0"/>
          </a:p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640080" y="1463040"/>
            <a:ext cx="3520440" cy="42519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0160">
            <a:solidFill>
              <a:srgbClr val="DDE3E8"/>
            </a:solidFill>
            <a:prstDash val="solid"/>
          </a:ln>
        </p:spPr>
      </p:sp>
      <p:sp>
        <p:nvSpPr>
          <p:cNvPr id="8" name="Shape 6"/>
          <p:cNvSpPr/>
          <p:nvPr>
            <p:custDataLst>
              <p:tags r:id="rId2"/>
            </p:custDataLst>
          </p:nvPr>
        </p:nvSpPr>
        <p:spPr>
          <a:xfrm>
            <a:off x="640080" y="1463040"/>
            <a:ext cx="32004" cy="4251960"/>
          </a:xfrm>
          <a:prstGeom prst="rect">
            <a:avLst/>
          </a:prstGeom>
          <a:solidFill>
            <a:srgbClr val="B7192E"/>
          </a:solidFill>
          <a:ln w="12700">
            <a:solidFill>
              <a:srgbClr val="B7192E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3"/>
            </p:custDataLst>
          </p:nvPr>
        </p:nvSpPr>
        <p:spPr>
          <a:xfrm>
            <a:off x="804672" y="1627632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232D"/>
                </a:solidFill>
              </a:rPr>
              <a:t>投研辅助</a:t>
            </a:r>
            <a:endParaRPr lang="en-US" sz="1200" dirty="0"/>
          </a:p>
        </p:txBody>
      </p:sp>
      <p:sp>
        <p:nvSpPr>
          <p:cNvPr id="10" name="Text 8"/>
          <p:cNvSpPr/>
          <p:nvPr>
            <p:custDataLst>
              <p:tags r:id="rId4"/>
            </p:custDataLst>
          </p:nvPr>
        </p:nvSpPr>
        <p:spPr>
          <a:xfrm>
            <a:off x="804672" y="2029968"/>
            <a:ext cx="3191256" cy="3538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727D"/>
                </a:solidFill>
              </a:rPr>
              <a:t>业务痛点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727D"/>
                </a:solidFill>
              </a:rPr>
              <a:t>多源信息、长分析链路，人工整合耗时。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727D"/>
                </a:solidFill>
              </a:rPr>
              <a:t>项目能力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727D"/>
                </a:solidFill>
              </a:rPr>
              <a:t>七 Agent 分工完成数据采集、技术面、基本面、风控和多策略决策。</a:t>
            </a:r>
            <a:r>
              <a:rPr lang="zh-CN" altLang="en-US" sz="1200" dirty="0">
                <a:solidFill>
                  <a:srgbClr val="66727D"/>
                </a:solidFill>
              </a:rPr>
              <a:t>！！！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727D"/>
                </a:solidFill>
              </a:rPr>
              <a:t>价值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727D"/>
                </a:solidFill>
              </a:rPr>
              <a:t>自动化重复分析步骤，让研究人员更聚焦研判。</a:t>
            </a:r>
            <a:endParaRPr lang="en-US" sz="1200" dirty="0"/>
          </a:p>
        </p:txBody>
      </p:sp>
      <p:sp>
        <p:nvSpPr>
          <p:cNvPr id="11" name="Shape 9"/>
          <p:cNvSpPr/>
          <p:nvPr>
            <p:custDataLst>
              <p:tags r:id="rId5"/>
            </p:custDataLst>
          </p:nvPr>
        </p:nvSpPr>
        <p:spPr>
          <a:xfrm>
            <a:off x="4343400" y="1463040"/>
            <a:ext cx="3520440" cy="42519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0160">
            <a:solidFill>
              <a:srgbClr val="DDE3E8"/>
            </a:solidFill>
            <a:prstDash val="solid"/>
          </a:ln>
        </p:spPr>
      </p:sp>
      <p:sp>
        <p:nvSpPr>
          <p:cNvPr id="12" name="Shape 10"/>
          <p:cNvSpPr/>
          <p:nvPr>
            <p:custDataLst>
              <p:tags r:id="rId6"/>
            </p:custDataLst>
          </p:nvPr>
        </p:nvSpPr>
        <p:spPr>
          <a:xfrm>
            <a:off x="4343400" y="1463040"/>
            <a:ext cx="32004" cy="4251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7"/>
            </p:custDataLst>
          </p:nvPr>
        </p:nvSpPr>
        <p:spPr>
          <a:xfrm>
            <a:off x="4507992" y="1627632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232D"/>
                </a:solidFill>
              </a:rPr>
              <a:t>投顾 / 客服辅助</a:t>
            </a:r>
            <a:endParaRPr lang="en-US" sz="1200" dirty="0"/>
          </a:p>
        </p:txBody>
      </p:sp>
      <p:sp>
        <p:nvSpPr>
          <p:cNvPr id="14" name="Text 12"/>
          <p:cNvSpPr/>
          <p:nvPr>
            <p:custDataLst>
              <p:tags r:id="rId8"/>
            </p:custDataLst>
          </p:nvPr>
        </p:nvSpPr>
        <p:spPr>
          <a:xfrm>
            <a:off x="4507992" y="2029968"/>
            <a:ext cx="3191256" cy="3538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727D"/>
                </a:solidFill>
              </a:rPr>
              <a:t>业务痛点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727D"/>
                </a:solidFill>
              </a:rPr>
              <a:t>多步骤问答质量要求高，同时存在严格合规约束。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727D"/>
                </a:solidFill>
              </a:rPr>
              <a:t>项目能力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727D"/>
                </a:solidFill>
              </a:rPr>
              <a:t>上下文记忆 + 句级敏感词检测与拦截 + 质量评价。</a:t>
            </a:r>
            <a:r>
              <a:rPr lang="zh-CN" altLang="en-US" sz="1200" dirty="0">
                <a:solidFill>
                  <a:srgbClr val="66727D"/>
                </a:solidFill>
              </a:rPr>
              <a:t>！！！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727D"/>
                </a:solidFill>
              </a:rPr>
              <a:t>价值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727D"/>
                </a:solidFill>
              </a:rPr>
              <a:t>辅助生成更可控的回答，降低违规表述直接输出的风险。</a:t>
            </a:r>
            <a:endParaRPr lang="en-US" sz="1200" dirty="0"/>
          </a:p>
        </p:txBody>
      </p:sp>
      <p:sp>
        <p:nvSpPr>
          <p:cNvPr id="15" name="Shape 13"/>
          <p:cNvSpPr/>
          <p:nvPr>
            <p:custDataLst>
              <p:tags r:id="rId9"/>
            </p:custDataLst>
          </p:nvPr>
        </p:nvSpPr>
        <p:spPr>
          <a:xfrm>
            <a:off x="8046720" y="1463040"/>
            <a:ext cx="3520440" cy="42519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0160">
            <a:solidFill>
              <a:srgbClr val="DDE3E8"/>
            </a:solidFill>
            <a:prstDash val="solid"/>
          </a:ln>
        </p:spPr>
      </p:sp>
      <p:sp>
        <p:nvSpPr>
          <p:cNvPr id="16" name="Shape 14"/>
          <p:cNvSpPr/>
          <p:nvPr>
            <p:custDataLst>
              <p:tags r:id="rId10"/>
            </p:custDataLst>
          </p:nvPr>
        </p:nvSpPr>
        <p:spPr>
          <a:xfrm>
            <a:off x="8046720" y="1463040"/>
            <a:ext cx="32004" cy="4251960"/>
          </a:xfrm>
          <a:prstGeom prst="rect">
            <a:avLst/>
          </a:prstGeom>
          <a:solidFill>
            <a:srgbClr val="16836D"/>
          </a:solidFill>
          <a:ln w="12700">
            <a:solidFill>
              <a:srgbClr val="16836D"/>
            </a:solidFill>
            <a:prstDash val="solid"/>
          </a:ln>
        </p:spPr>
      </p:sp>
      <p:sp>
        <p:nvSpPr>
          <p:cNvPr id="17" name="Text 15"/>
          <p:cNvSpPr/>
          <p:nvPr>
            <p:custDataLst>
              <p:tags r:id="rId11"/>
            </p:custDataLst>
          </p:nvPr>
        </p:nvSpPr>
        <p:spPr>
          <a:xfrm>
            <a:off x="8211312" y="1627632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232D"/>
                </a:solidFill>
              </a:rPr>
              <a:t>内部运营 / 风控辅助</a:t>
            </a:r>
            <a:endParaRPr lang="en-US" sz="1200" dirty="0"/>
          </a:p>
        </p:txBody>
      </p:sp>
      <p:sp>
        <p:nvSpPr>
          <p:cNvPr id="18" name="Text 16"/>
          <p:cNvSpPr/>
          <p:nvPr>
            <p:custDataLst>
              <p:tags r:id="rId12"/>
            </p:custDataLst>
          </p:nvPr>
        </p:nvSpPr>
        <p:spPr>
          <a:xfrm>
            <a:off x="8211312" y="2029968"/>
            <a:ext cx="3191256" cy="3538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727D"/>
                </a:solidFill>
              </a:rPr>
              <a:t>业务痛点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727D"/>
                </a:solidFill>
              </a:rPr>
              <a:t>Agent 化流程难追踪，异常定位与审计困难。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727D"/>
                </a:solidFill>
              </a:rPr>
              <a:t>项目能力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727D"/>
                </a:solidFill>
              </a:rPr>
              <a:t>全链路 Trace、异常告警、拓扑可视化、结果回溯。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727D"/>
                </a:solidFill>
              </a:rPr>
              <a:t>价值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727D"/>
                </a:solidFill>
              </a:rPr>
              <a:t>让自动化流程“可观测、可审计、可追溯”。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0" y="5961888"/>
            <a:ext cx="6309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7192E"/>
                </a:solidFill>
              </a:rPr>
              <a:t>不替代持牌投资顾问  ·  不宣称生产部署  ·  不虚构业务收益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192E"/>
          </a:solidFill>
          <a:ln w="12700">
            <a:solidFill>
              <a:srgbClr val="B719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19202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B719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 核心项目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8232D"/>
                </a:solidFill>
              </a:rPr>
              <a:t>项目实机展示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27D"/>
                </a:solidFill>
              </a:rPr>
              <a:t>Demo Case：分析 600519 贵州茅台 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6556248"/>
            <a:ext cx="621792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9AA4AD"/>
                </a:solidFill>
              </a:rPr>
              <a:t>实习答辩  ·  跨智能体协同执行智能监控与结果筛选优化研究</a:t>
            </a:r>
            <a:endParaRPr lang="en-US" sz="55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8641080" cy="4480560"/>
          </a:xfrm>
          <a:prstGeom prst="roundRect">
            <a:avLst>
              <a:gd name="adj" fmla="val 2449"/>
            </a:avLst>
          </a:prstGeom>
          <a:solidFill>
            <a:srgbClr val="111B27"/>
          </a:solidFill>
          <a:ln w="12700">
            <a:solidFill>
              <a:srgbClr val="111B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46920" y="148132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92E"/>
                </a:solidFill>
              </a:rPr>
              <a:t>演示重点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46920" y="2011680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B7192E"/>
                </a:solidFill>
              </a:rPr>
              <a:t>01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0058400" y="1993392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8232D"/>
                </a:solidFill>
              </a:rPr>
              <a:t>七 Agent 协同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058400" y="226771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6727D"/>
                </a:solidFill>
              </a:rPr>
              <a:t>步骤条实时点亮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9646920" y="2880360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B7192E"/>
                </a:solidFill>
              </a:rPr>
              <a:t>02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0058400" y="2862072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8232D"/>
                </a:solidFill>
              </a:rPr>
              <a:t>执行监控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058400" y="313639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6727D"/>
                </a:solidFill>
              </a:rPr>
              <a:t>Trace / 质量 / 告警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9646920" y="3749040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B7192E"/>
                </a:solidFill>
              </a:rPr>
              <a:t>03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0058400" y="3730752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8232D"/>
                </a:solidFill>
              </a:rPr>
              <a:t>结果筛选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058400" y="400507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6727D"/>
                </a:solidFill>
              </a:rPr>
              <a:t>3 候选排序推荐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9646920" y="4617720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B7192E"/>
                </a:solidFill>
              </a:rPr>
              <a:t>04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0058400" y="4599432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8232D"/>
                </a:solidFill>
              </a:rPr>
              <a:t>合规拦截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058400" y="487375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6727D"/>
                </a:solidFill>
              </a:rPr>
              <a:t>违规句标红并拦截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192E"/>
          </a:solidFill>
          <a:ln w="12700">
            <a:solidFill>
              <a:srgbClr val="B719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19202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B719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 实习收获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8232D"/>
                </a:solidFill>
              </a:rPr>
              <a:t>从“完成任务”到“解决问题”的工作方式升级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27D"/>
                </a:solidFill>
              </a:rPr>
              <a:t>项目之外，更重要的是形成可复用的问题拆解、学习与协作方式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6556248"/>
            <a:ext cx="621792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9AA4AD"/>
                </a:solidFill>
              </a:rPr>
              <a:t>实习答辩  ·  跨智能体协同执行智能监控与结果筛选优化研究</a:t>
            </a:r>
            <a:endParaRPr lang="en-US" sz="550" dirty="0"/>
          </a:p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685800" y="1508760"/>
            <a:ext cx="3337560" cy="411480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0160">
            <a:solidFill>
              <a:srgbClr val="DDE3E8"/>
            </a:solidFill>
            <a:prstDash val="solid"/>
          </a:ln>
        </p:spPr>
      </p:sp>
      <p:sp>
        <p:nvSpPr>
          <p:cNvPr id="8" name="Shape 6"/>
          <p:cNvSpPr/>
          <p:nvPr>
            <p:custDataLst>
              <p:tags r:id="rId2"/>
            </p:custDataLst>
          </p:nvPr>
        </p:nvSpPr>
        <p:spPr>
          <a:xfrm>
            <a:off x="685800" y="1508760"/>
            <a:ext cx="32004" cy="4114800"/>
          </a:xfrm>
          <a:prstGeom prst="rect">
            <a:avLst/>
          </a:prstGeom>
          <a:solidFill>
            <a:srgbClr val="B7192E"/>
          </a:solidFill>
          <a:ln w="12700">
            <a:solidFill>
              <a:srgbClr val="B7192E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3"/>
            </p:custDataLst>
          </p:nvPr>
        </p:nvSpPr>
        <p:spPr>
          <a:xfrm>
            <a:off x="850392" y="167335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232D"/>
                </a:solidFill>
              </a:rPr>
              <a:t>工作方式</a:t>
            </a:r>
            <a:endParaRPr lang="en-US" sz="1200" dirty="0"/>
          </a:p>
        </p:txBody>
      </p:sp>
      <p:sp>
        <p:nvSpPr>
          <p:cNvPr id="10" name="Text 8"/>
          <p:cNvSpPr/>
          <p:nvPr>
            <p:custDataLst>
              <p:tags r:id="rId4"/>
            </p:custDataLst>
          </p:nvPr>
        </p:nvSpPr>
        <p:spPr>
          <a:xfrm>
            <a:off x="850392" y="2075688"/>
            <a:ext cx="3008376" cy="34015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727D"/>
                </a:solidFill>
              </a:rPr>
              <a:t>从“先学全再做”到“边做边验证”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727D"/>
                </a:solidFill>
              </a:rPr>
              <a:t>先跑通最小链路，再逐层加入零侵入适配器、反馈闭环、多轮对话与合规拦截。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727D"/>
                </a:solidFill>
              </a:rPr>
              <a:t>关键词：最小验证 · 快速迭代</a:t>
            </a:r>
            <a:endParaRPr lang="en-US" sz="1200" dirty="0"/>
          </a:p>
        </p:txBody>
      </p:sp>
      <p:sp>
        <p:nvSpPr>
          <p:cNvPr id="11" name="Shape 9"/>
          <p:cNvSpPr/>
          <p:nvPr>
            <p:custDataLst>
              <p:tags r:id="rId5"/>
            </p:custDataLst>
          </p:nvPr>
        </p:nvSpPr>
        <p:spPr>
          <a:xfrm>
            <a:off x="4425696" y="1508760"/>
            <a:ext cx="3337560" cy="411480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0160">
            <a:solidFill>
              <a:srgbClr val="DDE3E8"/>
            </a:solidFill>
            <a:prstDash val="solid"/>
          </a:ln>
        </p:spPr>
      </p:sp>
      <p:sp>
        <p:nvSpPr>
          <p:cNvPr id="12" name="Shape 10"/>
          <p:cNvSpPr/>
          <p:nvPr>
            <p:custDataLst>
              <p:tags r:id="rId6"/>
            </p:custDataLst>
          </p:nvPr>
        </p:nvSpPr>
        <p:spPr>
          <a:xfrm>
            <a:off x="4425696" y="1508760"/>
            <a:ext cx="32004" cy="4114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7"/>
            </p:custDataLst>
          </p:nvPr>
        </p:nvSpPr>
        <p:spPr>
          <a:xfrm>
            <a:off x="4590288" y="167335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232D"/>
                </a:solidFill>
              </a:rPr>
              <a:t>学习方式</a:t>
            </a:r>
            <a:endParaRPr lang="en-US" sz="1200" dirty="0"/>
          </a:p>
        </p:txBody>
      </p:sp>
      <p:sp>
        <p:nvSpPr>
          <p:cNvPr id="14" name="Text 12"/>
          <p:cNvSpPr/>
          <p:nvPr>
            <p:custDataLst>
              <p:tags r:id="rId8"/>
            </p:custDataLst>
          </p:nvPr>
        </p:nvSpPr>
        <p:spPr>
          <a:xfrm>
            <a:off x="4590288" y="2075688"/>
            <a:ext cx="3008376" cy="34015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727D"/>
                </a:solidFill>
              </a:rPr>
              <a:t>遇到问题先定位，再带着具体问题查源码与 issue。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727D"/>
                </a:solidFill>
              </a:rPr>
              <a:t>LangGraph 版本变化导致旧回调无法采集 Trace，最终通过阅读源码切换到 astream_events。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727D"/>
                </a:solidFill>
              </a:rPr>
              <a:t>关键词：问题驱动 · 源码定位</a:t>
            </a:r>
            <a:endParaRPr lang="en-US" sz="1200" dirty="0"/>
          </a:p>
        </p:txBody>
      </p:sp>
      <p:sp>
        <p:nvSpPr>
          <p:cNvPr id="15" name="Shape 13"/>
          <p:cNvSpPr/>
          <p:nvPr>
            <p:custDataLst>
              <p:tags r:id="rId9"/>
            </p:custDataLst>
          </p:nvPr>
        </p:nvSpPr>
        <p:spPr>
          <a:xfrm>
            <a:off x="8165592" y="1508760"/>
            <a:ext cx="3337560" cy="411480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0160">
            <a:solidFill>
              <a:srgbClr val="DDE3E8"/>
            </a:solidFill>
            <a:prstDash val="solid"/>
          </a:ln>
        </p:spPr>
      </p:sp>
      <p:sp>
        <p:nvSpPr>
          <p:cNvPr id="16" name="Shape 14"/>
          <p:cNvSpPr/>
          <p:nvPr>
            <p:custDataLst>
              <p:tags r:id="rId10"/>
            </p:custDataLst>
          </p:nvPr>
        </p:nvSpPr>
        <p:spPr>
          <a:xfrm>
            <a:off x="8165592" y="1508760"/>
            <a:ext cx="32004" cy="4114800"/>
          </a:xfrm>
          <a:prstGeom prst="rect">
            <a:avLst/>
          </a:prstGeom>
          <a:solidFill>
            <a:srgbClr val="16836D"/>
          </a:solidFill>
          <a:ln w="12700">
            <a:solidFill>
              <a:srgbClr val="16836D"/>
            </a:solidFill>
            <a:prstDash val="solid"/>
          </a:ln>
        </p:spPr>
      </p:sp>
      <p:sp>
        <p:nvSpPr>
          <p:cNvPr id="17" name="Text 15"/>
          <p:cNvSpPr/>
          <p:nvPr>
            <p:custDataLst>
              <p:tags r:id="rId11"/>
            </p:custDataLst>
          </p:nvPr>
        </p:nvSpPr>
        <p:spPr>
          <a:xfrm>
            <a:off x="8330184" y="167335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232D"/>
                </a:solidFill>
              </a:rPr>
              <a:t>团队协作</a:t>
            </a:r>
            <a:endParaRPr lang="en-US" sz="1200" dirty="0"/>
          </a:p>
        </p:txBody>
      </p:sp>
      <p:sp>
        <p:nvSpPr>
          <p:cNvPr id="18" name="Text 16"/>
          <p:cNvSpPr/>
          <p:nvPr>
            <p:custDataLst>
              <p:tags r:id="rId12"/>
            </p:custDataLst>
          </p:nvPr>
        </p:nvSpPr>
        <p:spPr>
          <a:xfrm>
            <a:off x="8330184" y="2075688"/>
            <a:ext cx="3008376" cy="34015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727D"/>
                </a:solidFill>
              </a:rPr>
              <a:t>把“接口边界”当成沟通语言。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727D"/>
                </a:solidFill>
              </a:rPr>
              <a:t>通过约定 Demo 与监控零侵入解耦、服务之间使用明确接口，让模块职责和协作边界更清楚。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727D"/>
                </a:solidFill>
              </a:rPr>
              <a:t>关键词：边界清晰 · 文档对齐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192E"/>
          </a:solidFill>
          <a:ln w="12700">
            <a:solidFill>
              <a:srgbClr val="B719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19202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B719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 辅导员寄语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8232D"/>
                </a:solidFill>
              </a:rPr>
              <a:t>辅导员寄语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27D"/>
                </a:solidFill>
              </a:rPr>
              <a:t>在实践中保持好奇，在迭代中持续成长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6556248"/>
            <a:ext cx="621792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9AA4AD"/>
                </a:solidFill>
              </a:rPr>
              <a:t>实习答辩  ·  跨智能体协同执行智能监控与结果筛选优化研究</a:t>
            </a:r>
            <a:endParaRPr lang="en-US" sz="55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8503920" cy="4389120"/>
          </a:xfrm>
          <a:prstGeom prst="roundRect">
            <a:avLst>
              <a:gd name="adj" fmla="val 1042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645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6A7B0"/>
                </a:solidFill>
              </a:rPr>
              <a:t>“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126480" y="507492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27D"/>
                </a:solidFill>
              </a:rPr>
              <a:t>— 实习辅导员：</a:t>
            </a:r>
            <a:r>
              <a:rPr lang="zh-CN" altLang="en-US" sz="900" dirty="0">
                <a:solidFill>
                  <a:srgbClr val="66727D"/>
                </a:solidFill>
              </a:rPr>
              <a:t>刘一勰</a:t>
            </a:r>
            <a:endParaRPr lang="zh-CN" altLang="en-US" sz="900" dirty="0">
              <a:solidFill>
                <a:srgbClr val="66727D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555480" y="1417320"/>
            <a:ext cx="1920240" cy="2834640"/>
          </a:xfrm>
          <a:prstGeom prst="roundRect">
            <a:avLst>
              <a:gd name="adj" fmla="val 1905"/>
            </a:avLst>
          </a:prstGeom>
          <a:solidFill>
            <a:srgbClr val="E8EDF1"/>
          </a:solidFill>
          <a:ln w="12700">
            <a:solidFill>
              <a:srgbClr val="E8ED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55480" y="251460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C99A4"/>
                </a:solidFill>
              </a:rPr>
              <a:t>照片 / 签名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8C99A4"/>
                </a:solidFill>
              </a:rPr>
              <a:t>占位区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555480" y="4892040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192E"/>
                </a:solidFill>
              </a:rPr>
              <a:t>感谢各位老师指导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192E"/>
          </a:solidFill>
          <a:ln w="12700">
            <a:solidFill>
              <a:srgbClr val="B719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19202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B719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Q&amp;A  答辩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8232D"/>
                </a:solidFill>
              </a:rPr>
              <a:t>可能被追问的 6 个问题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27D"/>
                </a:solidFill>
              </a:rPr>
              <a:t>建议把回答控制在 30–60 秒，优先结合真实实现和技术取舍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6556248"/>
            <a:ext cx="621792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9AA4AD"/>
                </a:solidFill>
              </a:rPr>
              <a:t>实习答辩  ·  跨智能体协同执行智能监控与结果筛选优化研究</a:t>
            </a:r>
            <a:endParaRPr lang="en-US" sz="550" dirty="0"/>
          </a:p>
        </p:txBody>
      </p:sp>
      <p:sp>
        <p:nvSpPr>
          <p:cNvPr id="7" name="Shape 5"/>
          <p:cNvSpPr/>
          <p:nvPr/>
        </p:nvSpPr>
        <p:spPr>
          <a:xfrm>
            <a:off x="685800" y="1508760"/>
            <a:ext cx="507492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673352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B7192E"/>
                </a:solidFill>
              </a:rPr>
              <a:t>01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371600" y="1664208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18232D"/>
                </a:solidFill>
              </a:rPr>
              <a:t>为什么要用 Multi-Agent，而不是单 Agent？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507492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8232" y="1673352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B7192E"/>
                </a:solidFill>
              </a:rPr>
              <a:t>02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949440" y="1664208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18232D"/>
                </a:solidFill>
              </a:rPr>
              <a:t>零侵入监控是怎么做到的？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685800" y="2807208"/>
            <a:ext cx="507492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2971800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B7192E"/>
                </a:solidFill>
              </a:rPr>
              <a:t>03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371600" y="2962656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18232D"/>
                </a:solidFill>
              </a:rPr>
              <a:t>规则 + LLM-as-Judge 为什么要组合？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6263640" y="2807208"/>
            <a:ext cx="507492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2971800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B7192E"/>
                </a:solidFill>
              </a:rPr>
              <a:t>04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949440" y="2962656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18232D"/>
                </a:solidFill>
              </a:rPr>
              <a:t>三个候选决策为什么有差异？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685800" y="4105656"/>
            <a:ext cx="507492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4270248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B7192E"/>
                </a:solidFill>
              </a:rPr>
              <a:t>05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371600" y="4261104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18232D"/>
                </a:solidFill>
              </a:rPr>
              <a:t>反馈闭环如何避免越改越差？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6263640" y="4105656"/>
            <a:ext cx="507492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28232" y="4270248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B7192E"/>
                </a:solidFill>
              </a:rPr>
              <a:t>06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949440" y="4261104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18232D"/>
                </a:solidFill>
              </a:rPr>
              <a:t>系统当前最大的瓶颈和下一步优化？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3840480" y="571500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334A"/>
                </a:solidFill>
              </a:rPr>
              <a:t>感谢聆听 · Q&amp;A</a:t>
            </a:r>
            <a:endParaRPr lang="en-US" sz="20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0.6,&quot;left&quot;:51.839999999999996,&quot;top&quot;:111.6,&quot;width&quot;:662.4}"/>
</p:tagLst>
</file>

<file path=ppt/tags/tag2.xml><?xml version="1.0" encoding="utf-8"?>
<p:tagLst xmlns:p="http://schemas.openxmlformats.org/presentationml/2006/main">
  <p:tag name="KSO_WM_DIAGRAM_VIRTUALLY_FRAME" val="{&quot;height&quot;:270.6,&quot;left&quot;:51.839999999999996,&quot;top&quot;:111.6,&quot;width&quot;:662.4}"/>
</p:tagLst>
</file>

<file path=ppt/tags/tag3.xml><?xml version="1.0" encoding="utf-8"?>
<p:tagLst xmlns:p="http://schemas.openxmlformats.org/presentationml/2006/main">
  <p:tag name="KSO_WM_DIAGRAM_VIRTUALLY_FRAME" val="{&quot;height&quot;:270.6,&quot;left&quot;:51.839999999999996,&quot;top&quot;:111.6,&quot;width&quot;:662.4}"/>
</p:tagLst>
</file>

<file path=ppt/tags/tag4.xml><?xml version="1.0" encoding="utf-8"?>
<p:tagLst xmlns:p="http://schemas.openxmlformats.org/presentationml/2006/main">
  <p:tag name="KSO_WM_DIAGRAM_VIRTUALLY_FRAME" val="{&quot;height&quot;:270.6,&quot;left&quot;:51.839999999999996,&quot;top&quot;:111.6,&quot;width&quot;:662.4}"/>
</p:tagLst>
</file>

<file path=ppt/tags/tag5.xml><?xml version="1.0" encoding="utf-8"?>
<p:tagLst xmlns:p="http://schemas.openxmlformats.org/presentationml/2006/main">
  <p:tag name="KSO_WM_DIAGRAM_VIRTUALLY_FRAME" val="{&quot;height&quot;:270.6,&quot;left&quot;:51.839999999999996,&quot;top&quot;:111.6,&quot;width&quot;:662.4}"/>
</p:tagLst>
</file>

<file path=ppt/tags/tag6.xml><?xml version="1.0" encoding="utf-8"?>
<p:tagLst xmlns:p="http://schemas.openxmlformats.org/presentationml/2006/main">
  <p:tag name="KSO_WM_DIAGRAM_VIRTUALLY_FRAME" val="{&quot;height&quot;:270.6,&quot;left&quot;:51.839999999999996,&quot;top&quot;:111.6,&quot;width&quot;:662.4}"/>
</p:tagLst>
</file>

<file path=ppt/tags/tag7.xml><?xml version="1.0" encoding="utf-8"?>
<p:tagLst xmlns:p="http://schemas.openxmlformats.org/presentationml/2006/main">
  <p:tag name="KSO_WM_DIAGRAM_VIRTUALLY_FRAME" val="{&quot;height&quot;:270.6,&quot;left&quot;:51.839999999999996,&quot;top&quot;:111.6,&quot;width&quot;:662.4}"/>
</p:tagLst>
</file>

<file path=ppt/tags/tag8.xml><?xml version="1.0" encoding="utf-8"?>
<p:tagLst xmlns:p="http://schemas.openxmlformats.org/presentationml/2006/main">
  <p:tag name="KSO_WM_DIAGRAM_VIRTUALLY_FRAME" val="{&quot;height&quot;:270.6,&quot;left&quot;:51.839999999999996,&quot;top&quot;:111.6,&quot;width&quot;:662.4}"/>
</p:tagLst>
</file>

<file path=ppt/tags/tag9.xml><?xml version="1.0" encoding="utf-8"?>
<p:tagLst xmlns:p="http://schemas.openxmlformats.org/presentationml/2006/main">
  <p:tag name="KSO_WM_DIAGRAM_VIRTUALLY_FRAME" val="{&quot;height&quot;:270.6,&quot;left&quot;:51.839999999999996,&quot;top&quot;:111.6,&quot;width&quot;:662.4}"/>
</p:tagLst>
</file>

<file path=ppt/tags/tag10.xml><?xml version="1.0" encoding="utf-8"?>
<p:tagLst xmlns:p="http://schemas.openxmlformats.org/presentationml/2006/main">
  <p:tag name="KSO_WM_DIAGRAM_VIRTUALLY_FRAME" val="{&quot;height&quot;:270.6,&quot;left&quot;:51.839999999999996,&quot;top&quot;:111.6,&quot;width&quot;:662.4}"/>
</p:tagLst>
</file>

<file path=ppt/tags/tag11.xml><?xml version="1.0" encoding="utf-8"?>
<p:tagLst xmlns:p="http://schemas.openxmlformats.org/presentationml/2006/main">
  <p:tag name="KSO_WM_DIAGRAM_VIRTUALLY_FRAME" val="{&quot;height&quot;:270.6,&quot;left&quot;:51.839999999999996,&quot;top&quot;:111.6,&quot;width&quot;:662.4}"/>
</p:tagLst>
</file>

<file path=ppt/tags/tag12.xml><?xml version="1.0" encoding="utf-8"?>
<p:tagLst xmlns:p="http://schemas.openxmlformats.org/presentationml/2006/main">
  <p:tag name="KSO_WM_DIAGRAM_VIRTUALLY_FRAME" val="{&quot;height&quot;:270.6,&quot;left&quot;:51.839999999999996,&quot;top&quot;:111.6,&quot;width&quot;:662.4}"/>
</p:tagLst>
</file>

<file path=ppt/tags/tag13.xml><?xml version="1.0" encoding="utf-8"?>
<p:tagLst xmlns:p="http://schemas.openxmlformats.org/presentationml/2006/main">
  <p:tag name="KSO_WM_DIAGRAM_VIRTUALLY_FRAME" val="{&quot;height&quot;:270.6,&quot;left&quot;:51.839999999999996,&quot;top&quot;:111.6,&quot;width&quot;:662.4}"/>
</p:tagLst>
</file>

<file path=ppt/tags/tag14.xml><?xml version="1.0" encoding="utf-8"?>
<p:tagLst xmlns:p="http://schemas.openxmlformats.org/presentationml/2006/main">
  <p:tag name="KSO_WM_DIAGRAM_VIRTUALLY_FRAME" val="{&quot;height&quot;:270.6,&quot;left&quot;:51.839999999999996,&quot;top&quot;:111.6,&quot;width&quot;:662.4}"/>
</p:tagLst>
</file>

<file path=ppt/tags/tag15.xml><?xml version="1.0" encoding="utf-8"?>
<p:tagLst xmlns:p="http://schemas.openxmlformats.org/presentationml/2006/main">
  <p:tag name="KSO_WM_DIAGRAM_VIRTUALLY_FRAME" val="{&quot;height&quot;:270.6,&quot;left&quot;:51.839999999999996,&quot;top&quot;:111.6,&quot;width&quot;:662.4}"/>
</p:tagLst>
</file>

<file path=ppt/tags/tag16.xml><?xml version="1.0" encoding="utf-8"?>
<p:tagLst xmlns:p="http://schemas.openxmlformats.org/presentationml/2006/main">
  <p:tag name="KSO_WM_DIAGRAM_VIRTUALLY_FRAME" val="{&quot;height&quot;:334.8,&quot;left&quot;:50.4,&quot;top&quot;:115.2,&quot;width&quot;:860.4}"/>
</p:tagLst>
</file>

<file path=ppt/tags/tag17.xml><?xml version="1.0" encoding="utf-8"?>
<p:tagLst xmlns:p="http://schemas.openxmlformats.org/presentationml/2006/main">
  <p:tag name="KSO_WM_DIAGRAM_VIRTUALLY_FRAME" val="{&quot;height&quot;:334.8,&quot;left&quot;:50.4,&quot;top&quot;:115.2,&quot;width&quot;:860.4}"/>
</p:tagLst>
</file>

<file path=ppt/tags/tag18.xml><?xml version="1.0" encoding="utf-8"?>
<p:tagLst xmlns:p="http://schemas.openxmlformats.org/presentationml/2006/main">
  <p:tag name="KSO_WM_DIAGRAM_VIRTUALLY_FRAME" val="{&quot;height&quot;:334.8,&quot;left&quot;:50.4,&quot;top&quot;:115.2,&quot;width&quot;:860.4}"/>
</p:tagLst>
</file>

<file path=ppt/tags/tag19.xml><?xml version="1.0" encoding="utf-8"?>
<p:tagLst xmlns:p="http://schemas.openxmlformats.org/presentationml/2006/main">
  <p:tag name="KSO_WM_DIAGRAM_VIRTUALLY_FRAME" val="{&quot;height&quot;:334.8,&quot;left&quot;:50.4,&quot;top&quot;:115.2,&quot;width&quot;:860.4}"/>
</p:tagLst>
</file>

<file path=ppt/tags/tag20.xml><?xml version="1.0" encoding="utf-8"?>
<p:tagLst xmlns:p="http://schemas.openxmlformats.org/presentationml/2006/main">
  <p:tag name="KSO_WM_DIAGRAM_VIRTUALLY_FRAME" val="{&quot;height&quot;:334.8,&quot;left&quot;:50.4,&quot;top&quot;:115.2,&quot;width&quot;:860.4}"/>
</p:tagLst>
</file>

<file path=ppt/tags/tag21.xml><?xml version="1.0" encoding="utf-8"?>
<p:tagLst xmlns:p="http://schemas.openxmlformats.org/presentationml/2006/main">
  <p:tag name="KSO_WM_DIAGRAM_VIRTUALLY_FRAME" val="{&quot;height&quot;:334.8,&quot;left&quot;:50.4,&quot;top&quot;:115.2,&quot;width&quot;:860.4}"/>
</p:tagLst>
</file>

<file path=ppt/tags/tag22.xml><?xml version="1.0" encoding="utf-8"?>
<p:tagLst xmlns:p="http://schemas.openxmlformats.org/presentationml/2006/main">
  <p:tag name="KSO_WM_DIAGRAM_VIRTUALLY_FRAME" val="{&quot;height&quot;:334.8,&quot;left&quot;:50.4,&quot;top&quot;:115.2,&quot;width&quot;:860.4}"/>
</p:tagLst>
</file>

<file path=ppt/tags/tag23.xml><?xml version="1.0" encoding="utf-8"?>
<p:tagLst xmlns:p="http://schemas.openxmlformats.org/presentationml/2006/main">
  <p:tag name="KSO_WM_DIAGRAM_VIRTUALLY_FRAME" val="{&quot;height&quot;:334.8,&quot;left&quot;:50.4,&quot;top&quot;:115.2,&quot;width&quot;:860.4}"/>
</p:tagLst>
</file>

<file path=ppt/tags/tag24.xml><?xml version="1.0" encoding="utf-8"?>
<p:tagLst xmlns:p="http://schemas.openxmlformats.org/presentationml/2006/main">
  <p:tag name="KSO_WM_DIAGRAM_VIRTUALLY_FRAME" val="{&quot;height&quot;:334.8,&quot;left&quot;:50.4,&quot;top&quot;:115.2,&quot;width&quot;:860.4}"/>
</p:tagLst>
</file>

<file path=ppt/tags/tag25.xml><?xml version="1.0" encoding="utf-8"?>
<p:tagLst xmlns:p="http://schemas.openxmlformats.org/presentationml/2006/main">
  <p:tag name="KSO_WM_DIAGRAM_VIRTUALLY_FRAME" val="{&quot;height&quot;:334.8,&quot;left&quot;:50.4,&quot;top&quot;:115.2,&quot;width&quot;:860.4}"/>
</p:tagLst>
</file>

<file path=ppt/tags/tag26.xml><?xml version="1.0" encoding="utf-8"?>
<p:tagLst xmlns:p="http://schemas.openxmlformats.org/presentationml/2006/main">
  <p:tag name="KSO_WM_DIAGRAM_VIRTUALLY_FRAME" val="{&quot;height&quot;:334.8,&quot;left&quot;:50.4,&quot;top&quot;:115.2,&quot;width&quot;:860.4}"/>
</p:tagLst>
</file>

<file path=ppt/tags/tag27.xml><?xml version="1.0" encoding="utf-8"?>
<p:tagLst xmlns:p="http://schemas.openxmlformats.org/presentationml/2006/main">
  <p:tag name="KSO_WM_DIAGRAM_VIRTUALLY_FRAME" val="{&quot;height&quot;:334.8,&quot;left&quot;:50.4,&quot;top&quot;:115.2,&quot;width&quot;:860.4}"/>
</p:tagLst>
</file>

<file path=ppt/tags/tag28.xml><?xml version="1.0" encoding="utf-8"?>
<p:tagLst xmlns:p="http://schemas.openxmlformats.org/presentationml/2006/main">
  <p:tag name="KSO_WM_DIAGRAM_VIRTUALLY_FRAME" val="{&quot;height&quot;:324,&quot;left&quot;:54,&quot;top&quot;:118.8,&quot;width&quot;:851.76}"/>
</p:tagLst>
</file>

<file path=ppt/tags/tag29.xml><?xml version="1.0" encoding="utf-8"?>
<p:tagLst xmlns:p="http://schemas.openxmlformats.org/presentationml/2006/main">
  <p:tag name="KSO_WM_DIAGRAM_VIRTUALLY_FRAME" val="{&quot;height&quot;:324,&quot;left&quot;:54,&quot;top&quot;:118.8,&quot;width&quot;:851.76}"/>
</p:tagLst>
</file>

<file path=ppt/tags/tag30.xml><?xml version="1.0" encoding="utf-8"?>
<p:tagLst xmlns:p="http://schemas.openxmlformats.org/presentationml/2006/main">
  <p:tag name="KSO_WM_DIAGRAM_VIRTUALLY_FRAME" val="{&quot;height&quot;:324,&quot;left&quot;:54,&quot;top&quot;:118.8,&quot;width&quot;:851.76}"/>
</p:tagLst>
</file>

<file path=ppt/tags/tag31.xml><?xml version="1.0" encoding="utf-8"?>
<p:tagLst xmlns:p="http://schemas.openxmlformats.org/presentationml/2006/main">
  <p:tag name="KSO_WM_DIAGRAM_VIRTUALLY_FRAME" val="{&quot;height&quot;:324,&quot;left&quot;:54,&quot;top&quot;:118.8,&quot;width&quot;:851.76}"/>
</p:tagLst>
</file>

<file path=ppt/tags/tag32.xml><?xml version="1.0" encoding="utf-8"?>
<p:tagLst xmlns:p="http://schemas.openxmlformats.org/presentationml/2006/main">
  <p:tag name="KSO_WM_DIAGRAM_VIRTUALLY_FRAME" val="{&quot;height&quot;:324,&quot;left&quot;:54,&quot;top&quot;:118.8,&quot;width&quot;:851.76}"/>
</p:tagLst>
</file>

<file path=ppt/tags/tag33.xml><?xml version="1.0" encoding="utf-8"?>
<p:tagLst xmlns:p="http://schemas.openxmlformats.org/presentationml/2006/main">
  <p:tag name="KSO_WM_DIAGRAM_VIRTUALLY_FRAME" val="{&quot;height&quot;:324,&quot;left&quot;:54,&quot;top&quot;:118.8,&quot;width&quot;:851.76}"/>
</p:tagLst>
</file>

<file path=ppt/tags/tag34.xml><?xml version="1.0" encoding="utf-8"?>
<p:tagLst xmlns:p="http://schemas.openxmlformats.org/presentationml/2006/main">
  <p:tag name="KSO_WM_DIAGRAM_VIRTUALLY_FRAME" val="{&quot;height&quot;:324,&quot;left&quot;:54,&quot;top&quot;:118.8,&quot;width&quot;:851.76}"/>
</p:tagLst>
</file>

<file path=ppt/tags/tag35.xml><?xml version="1.0" encoding="utf-8"?>
<p:tagLst xmlns:p="http://schemas.openxmlformats.org/presentationml/2006/main">
  <p:tag name="KSO_WM_DIAGRAM_VIRTUALLY_FRAME" val="{&quot;height&quot;:324,&quot;left&quot;:54,&quot;top&quot;:118.8,&quot;width&quot;:851.76}"/>
</p:tagLst>
</file>

<file path=ppt/tags/tag36.xml><?xml version="1.0" encoding="utf-8"?>
<p:tagLst xmlns:p="http://schemas.openxmlformats.org/presentationml/2006/main">
  <p:tag name="KSO_WM_DIAGRAM_VIRTUALLY_FRAME" val="{&quot;height&quot;:324,&quot;left&quot;:54,&quot;top&quot;:118.8,&quot;width&quot;:851.76}"/>
</p:tagLst>
</file>

<file path=ppt/tags/tag37.xml><?xml version="1.0" encoding="utf-8"?>
<p:tagLst xmlns:p="http://schemas.openxmlformats.org/presentationml/2006/main">
  <p:tag name="KSO_WM_DIAGRAM_VIRTUALLY_FRAME" val="{&quot;height&quot;:324,&quot;left&quot;:54,&quot;top&quot;:118.8,&quot;width&quot;:851.76}"/>
</p:tagLst>
</file>

<file path=ppt/tags/tag38.xml><?xml version="1.0" encoding="utf-8"?>
<p:tagLst xmlns:p="http://schemas.openxmlformats.org/presentationml/2006/main">
  <p:tag name="KSO_WM_DIAGRAM_VIRTUALLY_FRAME" val="{&quot;height&quot;:324,&quot;left&quot;:54,&quot;top&quot;:118.8,&quot;width&quot;:851.76}"/>
</p:tagLst>
</file>

<file path=ppt/tags/tag39.xml><?xml version="1.0" encoding="utf-8"?>
<p:tagLst xmlns:p="http://schemas.openxmlformats.org/presentationml/2006/main">
  <p:tag name="KSO_WM_DIAGRAM_VIRTUALLY_FRAME" val="{&quot;height&quot;:324,&quot;left&quot;:54,&quot;top&quot;:118.8,&quot;width&quot;:851.7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3139</Words>
  <Application>WPS 演示</Application>
  <PresentationFormat>On-screen Show (16:9)</PresentationFormat>
  <Paragraphs>394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跨智能体协同执行智能监控与结果筛选优化研究</dc:title>
  <dc:creator>OpenAI</dc:creator>
  <dc:subject>实习答辩</dc:subject>
  <cp:lastModifiedBy>世界</cp:lastModifiedBy>
  <cp:revision>9</cp:revision>
  <dcterms:created xsi:type="dcterms:W3CDTF">2026-09-03T14:16:00Z</dcterms:created>
  <dcterms:modified xsi:type="dcterms:W3CDTF">2026-09-04T10:13:44Z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25850CD9F87D444682BF0294FF8CA489_12</vt:lpwstr>
  </property>
</Properties>
</file>