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03320" cy="6858000"/>
          </a:xfrm>
          <a:prstGeom prst="rect">
            <a:avLst/>
          </a:prstGeom>
          <a:solidFill>
            <a:srgbClr val="14334A"/>
          </a:solidFill>
          <a:ln w="12700">
            <a:solidFill>
              <a:srgbClr val="143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640080"/>
            <a:ext cx="2103120" cy="2103120"/>
          </a:xfrm>
          <a:prstGeom prst="arc">
            <a:avLst/>
          </a:prstGeom>
          <a:solidFill>
            <a:srgbClr val="14334A">
              <a:alpha val="0"/>
            </a:srgbClr>
          </a:solidFill>
          <a:ln w="12700">
            <a:solidFill>
              <a:srgbClr val="547189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097280"/>
            <a:ext cx="82296" cy="82296"/>
          </a:xfrm>
          <a:prstGeom prst="ellipse">
            <a:avLst/>
          </a:prstGeom>
          <a:solidFill>
            <a:srgbClr val="A9C5D7"/>
          </a:solidFill>
          <a:ln w="12700">
            <a:solidFill>
              <a:srgbClr val="A9C5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822960"/>
            <a:ext cx="82296" cy="82296"/>
          </a:xfrm>
          <a:prstGeom prst="ellipse">
            <a:avLst/>
          </a:prstGeom>
          <a:solidFill>
            <a:srgbClr val="A9C5D7"/>
          </a:solidFill>
          <a:ln w="12700">
            <a:solidFill>
              <a:srgbClr val="A9C5D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1143000"/>
            <a:ext cx="82296" cy="82296"/>
          </a:xfrm>
          <a:prstGeom prst="ellipse">
            <a:avLst/>
          </a:prstGeom>
          <a:solidFill>
            <a:srgbClr val="A9C5D7"/>
          </a:solidFill>
          <a:ln w="12700">
            <a:solidFill>
              <a:srgbClr val="A9C5D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000" y="1600200"/>
            <a:ext cx="82296" cy="82296"/>
          </a:xfrm>
          <a:prstGeom prst="ellipse">
            <a:avLst/>
          </a:prstGeom>
          <a:solidFill>
            <a:srgbClr val="A9C5D7"/>
          </a:solidFill>
          <a:ln w="12700">
            <a:solidFill>
              <a:srgbClr val="A9C5D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31720" y="1691640"/>
            <a:ext cx="82296" cy="82296"/>
          </a:xfrm>
          <a:prstGeom prst="ellipse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91640" y="2148840"/>
            <a:ext cx="82296" cy="82296"/>
          </a:xfrm>
          <a:prstGeom prst="ellipse">
            <a:avLst/>
          </a:prstGeom>
          <a:solidFill>
            <a:srgbClr val="A9C5D7"/>
          </a:solidFill>
          <a:ln w="12700">
            <a:solidFill>
              <a:srgbClr val="A9C5D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017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实习答辩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12648" y="34747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B8C7D1"/>
                </a:solidFill>
              </a:rPr>
              <a:t>PRESENTATION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4251960" y="196596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32D"/>
                </a:solidFill>
              </a:rPr>
              <a:t>跨智能体协同执行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18232D"/>
                </a:solidFill>
              </a:rPr>
              <a:t>智能监控与结果筛选优化研究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270248" y="324612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27D"/>
                </a:solidFill>
              </a:rPr>
              <a:t>从“多 Agent 能运行”到“执行可观测、结果可评价、输出可择优”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70248" y="3767328"/>
            <a:ext cx="960120" cy="0"/>
          </a:xfrm>
          <a:prstGeom prst="line">
            <a:avLst/>
          </a:prstGeom>
          <a:noFill/>
          <a:ln w="25400">
            <a:solidFill>
              <a:srgbClr val="B719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0248" y="411480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27D"/>
                </a:solidFill>
              </a:rPr>
              <a:t>汇报人：【待填写】    实习部门：【待填写】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27D"/>
                </a:solidFill>
              </a:rPr>
              <a:t>实习时间：【待填写】    实习辅导员：【待填写】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B719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实习内容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232D"/>
                </a:solidFill>
              </a:rPr>
              <a:t>实习工作概览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27D"/>
                </a:solidFill>
              </a:rPr>
              <a:t>围绕 Multi-Agent 协同与 AI 应用工程，完成从技术调研到原型落地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56248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AA4AD"/>
                </a:solidFill>
              </a:rPr>
              <a:t>实习答辩  ·  跨智能体协同执行智能监控与结果筛选优化研究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548640" y="1481328"/>
            <a:ext cx="3429000" cy="4224528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41148" cy="4224528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7556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7192E"/>
                </a:solidFill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70432" y="1673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32D"/>
                </a:solidFill>
              </a:rPr>
              <a:t>技术调研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04672" y="2331720"/>
            <a:ext cx="288036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8232D"/>
                </a:solidFill>
              </a:rPr>
              <a:t>Multi-Agent 协同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8232D"/>
                </a:solidFill>
              </a:rPr>
              <a:t>LangGraph 工作流编排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8232D"/>
                </a:solidFill>
              </a:rPr>
              <a:t>LLM 应用开发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8232D"/>
                </a:solidFill>
              </a:rPr>
              <a:t>Agent 可观测性与质量控制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" y="4096512"/>
            <a:ext cx="2788920" cy="0"/>
          </a:xfrm>
          <a:prstGeom prst="line">
            <a:avLst/>
          </a:prstGeom>
          <a:noFill/>
          <a:ln w="10160">
            <a:solidFill>
              <a:srgbClr val="DDE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370832"/>
            <a:ext cx="2816352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27D"/>
                </a:solidFill>
              </a:rPr>
              <a:t>从“如何协同”进一步关注“如何监控、如何评价”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70832" y="1481328"/>
            <a:ext cx="3429000" cy="4224528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70832" y="1481328"/>
            <a:ext cx="41148" cy="422452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17556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92624" y="1673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32D"/>
                </a:solidFill>
              </a:rPr>
              <a:t>核心项目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26864" y="2331720"/>
            <a:ext cx="288036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</a:rPr>
              <a:t>跨智能体协同执行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</a:rPr>
              <a:t>智能监控与结果筛选优化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26864" y="4096512"/>
            <a:ext cx="2788920" cy="0"/>
          </a:xfrm>
          <a:prstGeom prst="line">
            <a:avLst/>
          </a:prstGeom>
          <a:noFill/>
          <a:ln w="1016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26864" y="4370832"/>
            <a:ext cx="2816352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27D"/>
                </a:solidFill>
              </a:rPr>
              <a:t>零侵入 Trace 采集 · 三层异常检测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727D"/>
                </a:solidFill>
              </a:rPr>
              <a:t>五维质量评价 · 3 候选择优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93024" y="1481328"/>
            <a:ext cx="3429000" cy="4224528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1481328"/>
            <a:ext cx="41148" cy="4224528"/>
          </a:xfrm>
          <a:prstGeom prst="rect">
            <a:avLst/>
          </a:prstGeom>
          <a:solidFill>
            <a:srgbClr val="16836D"/>
          </a:solidFill>
          <a:ln w="12700">
            <a:solidFill>
              <a:srgbClr val="16836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94192" y="17556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836D"/>
                </a:solidFill>
              </a:rPr>
              <a:t>03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814816" y="1673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32D"/>
                </a:solidFill>
              </a:rPr>
              <a:t>工程实践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449056" y="2331720"/>
            <a:ext cx="288036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8232D"/>
                </a:solidFill>
              </a:rPr>
              <a:t>FastAPI + LangGraph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8232D"/>
                </a:solidFill>
              </a:rPr>
              <a:t>PostgreSQL + WebSocket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8232D"/>
                </a:solidFill>
              </a:rPr>
              <a:t>React + TypeScript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8232D"/>
                </a:solidFill>
              </a:rPr>
              <a:t>自动化测试 + CI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449056" y="4096512"/>
            <a:ext cx="2788920" cy="0"/>
          </a:xfrm>
          <a:prstGeom prst="line">
            <a:avLst/>
          </a:prstGeom>
          <a:noFill/>
          <a:ln w="10160">
            <a:solidFill>
              <a:srgbClr val="DDE3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49056" y="4370832"/>
            <a:ext cx="2816352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27D"/>
                </a:solidFill>
              </a:rPr>
              <a:t>覆盖后端、工作流、数据层与前端联调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148840" y="5925312"/>
            <a:ext cx="7909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</a:rPr>
              <a:t>实习主线：调研 → 设计 → 开发 → 联调 → 演示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B719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核心项目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232D"/>
                </a:solidFill>
              </a:rPr>
              <a:t>为什么要做跨智能体执行监控与结果筛选？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27D"/>
                </a:solidFill>
              </a:rPr>
              <a:t>从“多 Agent 能跑起来”，进一步解决过程黑盒、异常难定位与结果不稳定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56248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AA4AD"/>
                </a:solidFill>
              </a:rPr>
              <a:t>实习答辩  ·  跨智能体协同执行智能监控与结果筛选优化研究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640080" y="1481328"/>
            <a:ext cx="3456432" cy="3977640"/>
          </a:xfrm>
          <a:prstGeom prst="roundRect">
            <a:avLst>
              <a:gd name="adj" fmla="val 132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7373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25880" y="16642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8232D"/>
                </a:solidFill>
              </a:rPr>
              <a:t>协同过程黑盒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14400" y="2304288"/>
            <a:ext cx="2852928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32D"/>
                </a:solidFill>
              </a:rPr>
              <a:t>7 个 Agent 分工协作后，执行状态、输入输出和上下游关系分散在链路中。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3566160"/>
            <a:ext cx="2880360" cy="1234440"/>
          </a:xfrm>
          <a:prstGeom prst="roundRect">
            <a:avLst>
              <a:gd name="adj" fmla="val 2963"/>
            </a:avLst>
          </a:prstGeom>
          <a:solidFill>
            <a:srgbClr val="F0F5F8"/>
          </a:solidFill>
          <a:ln w="12700">
            <a:solidFill>
              <a:srgbClr val="D7E2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3803904"/>
            <a:ext cx="25146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</a:rPr>
              <a:t>出了问题：不知道卡在哪个 Agent，也难快速还原执行过程。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62272" y="1481328"/>
            <a:ext cx="3456432" cy="3977640"/>
          </a:xfrm>
          <a:prstGeom prst="roundRect">
            <a:avLst>
              <a:gd name="adj" fmla="val 132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0872" y="17373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6B35"/>
                </a:solidFill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48072" y="16642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8232D"/>
                </a:solidFill>
              </a:rPr>
              <a:t>异常发现滞后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736592" y="2304288"/>
            <a:ext cx="2852928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32D"/>
                </a:solidFill>
              </a:rPr>
              <a:t>Agent 可能超时、失败、循环、缺失节点、空输出，甚至产生违规表述。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18304" y="3566160"/>
            <a:ext cx="2880360" cy="1234440"/>
          </a:xfrm>
          <a:prstGeom prst="roundRect">
            <a:avLst>
              <a:gd name="adj" fmla="val 2963"/>
            </a:avLst>
          </a:prstGeom>
          <a:solidFill>
            <a:srgbClr val="FFF4EC"/>
          </a:solidFill>
          <a:ln w="12700">
            <a:solidFill>
              <a:srgbClr val="F0D3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3803904"/>
            <a:ext cx="25146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6B35"/>
                </a:solidFill>
              </a:rPr>
              <a:t>只靠人工翻日志：发现慢、定位慢，也无法实时告警。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84464" y="1481328"/>
            <a:ext cx="3456432" cy="3977640"/>
          </a:xfrm>
          <a:prstGeom prst="roundRect">
            <a:avLst>
              <a:gd name="adj" fmla="val 132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13064" y="17373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7192E"/>
                </a:solidFill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970264" y="166420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8232D"/>
                </a:solidFill>
              </a:rPr>
              <a:t>结果质量波动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558784" y="2304288"/>
            <a:ext cx="2852928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32D"/>
                </a:solidFill>
              </a:rPr>
              <a:t>LLM 具有概率性；本项目还会由 3 个决策 Agent 并行生成不同策略候选。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540496" y="3566160"/>
            <a:ext cx="2880360" cy="1234440"/>
          </a:xfrm>
          <a:prstGeom prst="roundRect">
            <a:avLst>
              <a:gd name="adj" fmla="val 2963"/>
            </a:avLst>
          </a:prstGeom>
          <a:solidFill>
            <a:srgbClr val="FDEFF1"/>
          </a:solidFill>
          <a:ln w="12700">
            <a:solidFill>
              <a:srgbClr val="EECB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23376" y="3803904"/>
            <a:ext cx="25146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192E"/>
                </a:solidFill>
              </a:rPr>
              <a:t>只取第一次结果不够稳，需要评价、比较并择优。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057400" y="56875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27D"/>
                </a:solidFill>
              </a:rPr>
              <a:t>因此，本项目把问题归纳为三个目标：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83480" y="5623560"/>
            <a:ext cx="1115568" cy="310896"/>
          </a:xfrm>
          <a:prstGeom prst="roundRect">
            <a:avLst>
              <a:gd name="adj" fmla="val 23529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5678424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</a:rPr>
              <a:t>可观测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6400800" y="5623560"/>
            <a:ext cx="1115568" cy="310896"/>
          </a:xfrm>
          <a:prstGeom prst="roundRect">
            <a:avLst>
              <a:gd name="adj" fmla="val 23529"/>
            </a:avLst>
          </a:prstGeom>
          <a:solidFill>
            <a:srgbClr val="16836D"/>
          </a:solidFill>
          <a:ln w="12700">
            <a:solidFill>
              <a:srgbClr val="16836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5678424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</a:rPr>
              <a:t>可评价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7818120" y="5623560"/>
            <a:ext cx="1115568" cy="310896"/>
          </a:xfrm>
          <a:prstGeom prst="roundRect">
            <a:avLst>
              <a:gd name="adj" fmla="val 23529"/>
            </a:avLst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18120" y="5678424"/>
            <a:ext cx="1115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</a:rPr>
              <a:t>可择优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B719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核心项目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232D"/>
                </a:solidFill>
              </a:rPr>
              <a:t>整体技术架构：七 Agent 协同 + 零侵入监控闭环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27D"/>
                </a:solidFill>
              </a:rPr>
              <a:t>固定 LangGraph 拓扑负责业务协同，监控平台通过事件适配器解耦接入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56248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AA4AD"/>
                </a:solidFill>
              </a:rPr>
              <a:t>实习答辩  ·  跨智能体协同执行智能监控与结果筛选优化研究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430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459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232D"/>
                </a:solidFill>
              </a:rPr>
              <a:t>用户输入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874520" y="1481328"/>
            <a:ext cx="11887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74520" y="1645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232D"/>
                </a:solidFill>
              </a:rPr>
              <a:t>投顾服务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10128" y="1481328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0128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232D"/>
                </a:solidFill>
              </a:rPr>
              <a:t>LangGraph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8232D"/>
                </a:solidFill>
              </a:rPr>
              <a:t>固定拓扑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83480" y="1481328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232D"/>
                </a:solidFill>
              </a:rPr>
              <a:t>七 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8232D"/>
                </a:solidFill>
              </a:rPr>
              <a:t>协同执行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332720" y="1481328"/>
            <a:ext cx="1325880" cy="658368"/>
          </a:xfrm>
          <a:prstGeom prst="roundRect">
            <a:avLst>
              <a:gd name="adj" fmla="val 6944"/>
            </a:avLst>
          </a:prstGeom>
          <a:solidFill>
            <a:srgbClr val="FDECEF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332720" y="1645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192E"/>
                </a:solidFill>
              </a:rPr>
              <a:t>结果输出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45920" y="1810512"/>
            <a:ext cx="228600" cy="0"/>
          </a:xfrm>
          <a:prstGeom prst="line">
            <a:avLst/>
          </a:prstGeom>
          <a:noFill/>
          <a:ln w="15240">
            <a:solidFill>
              <a:srgbClr val="98A6B3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063240" y="1810512"/>
            <a:ext cx="246888" cy="0"/>
          </a:xfrm>
          <a:prstGeom prst="line">
            <a:avLst/>
          </a:prstGeom>
          <a:noFill/>
          <a:ln w="15240">
            <a:solidFill>
              <a:srgbClr val="98A6B3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727448" y="1810512"/>
            <a:ext cx="256032" cy="0"/>
          </a:xfrm>
          <a:prstGeom prst="line">
            <a:avLst/>
          </a:prstGeom>
          <a:noFill/>
          <a:ln w="15240">
            <a:solidFill>
              <a:srgbClr val="98A6B3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800600" y="2514600"/>
            <a:ext cx="1051560" cy="438912"/>
          </a:xfrm>
          <a:prstGeom prst="roundRect">
            <a:avLst>
              <a:gd name="adj" fmla="val 8333"/>
            </a:avLst>
          </a:prstGeom>
          <a:solidFill>
            <a:srgbClr val="F0F5F8"/>
          </a:solidFill>
          <a:ln w="12700">
            <a:solidFill>
              <a:srgbClr val="C9D6D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64261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1F4E79"/>
                </a:solidFill>
              </a:rPr>
              <a:t>数据采集</a:t>
            </a:r>
            <a:endParaRPr lang="en-US" sz="690" dirty="0"/>
          </a:p>
        </p:txBody>
      </p:sp>
      <p:sp>
        <p:nvSpPr>
          <p:cNvPr id="22" name="Shape 20"/>
          <p:cNvSpPr/>
          <p:nvPr/>
        </p:nvSpPr>
        <p:spPr>
          <a:xfrm>
            <a:off x="6053328" y="2514600"/>
            <a:ext cx="1051560" cy="438912"/>
          </a:xfrm>
          <a:prstGeom prst="roundRect">
            <a:avLst>
              <a:gd name="adj" fmla="val 8333"/>
            </a:avLst>
          </a:prstGeom>
          <a:solidFill>
            <a:srgbClr val="F0F5F8"/>
          </a:solidFill>
          <a:ln w="12700">
            <a:solidFill>
              <a:srgbClr val="C9D6D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264261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1F4E79"/>
                </a:solidFill>
              </a:rPr>
              <a:t>技术分析</a:t>
            </a:r>
            <a:endParaRPr lang="en-US" sz="690" dirty="0"/>
          </a:p>
        </p:txBody>
      </p:sp>
      <p:sp>
        <p:nvSpPr>
          <p:cNvPr id="24" name="Shape 22"/>
          <p:cNvSpPr/>
          <p:nvPr/>
        </p:nvSpPr>
        <p:spPr>
          <a:xfrm>
            <a:off x="7360920" y="2514600"/>
            <a:ext cx="1051560" cy="438912"/>
          </a:xfrm>
          <a:prstGeom prst="roundRect">
            <a:avLst>
              <a:gd name="adj" fmla="val 8333"/>
            </a:avLst>
          </a:prstGeom>
          <a:solidFill>
            <a:srgbClr val="F0F5F8"/>
          </a:solidFill>
          <a:ln w="12700">
            <a:solidFill>
              <a:srgbClr val="C9D6D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264261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1F4E79"/>
                </a:solidFill>
              </a:rPr>
              <a:t>基本面分析</a:t>
            </a:r>
            <a:endParaRPr lang="en-US" sz="690" dirty="0"/>
          </a:p>
        </p:txBody>
      </p:sp>
      <p:sp>
        <p:nvSpPr>
          <p:cNvPr id="26" name="Shape 24"/>
          <p:cNvSpPr/>
          <p:nvPr/>
        </p:nvSpPr>
        <p:spPr>
          <a:xfrm>
            <a:off x="8705088" y="2514600"/>
            <a:ext cx="1051560" cy="438912"/>
          </a:xfrm>
          <a:prstGeom prst="roundRect">
            <a:avLst>
              <a:gd name="adj" fmla="val 8333"/>
            </a:avLst>
          </a:prstGeom>
          <a:solidFill>
            <a:srgbClr val="F0F5F8"/>
          </a:solidFill>
          <a:ln w="12700">
            <a:solidFill>
              <a:srgbClr val="C9D6D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05088" y="264261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1F4E79"/>
                </a:solidFill>
              </a:rPr>
              <a:t>风险评估</a:t>
            </a:r>
            <a:endParaRPr lang="en-US" sz="690" dirty="0"/>
          </a:p>
        </p:txBody>
      </p:sp>
      <p:sp>
        <p:nvSpPr>
          <p:cNvPr id="28" name="Shape 26"/>
          <p:cNvSpPr/>
          <p:nvPr/>
        </p:nvSpPr>
        <p:spPr>
          <a:xfrm>
            <a:off x="7360920" y="3429000"/>
            <a:ext cx="1051560" cy="438912"/>
          </a:xfrm>
          <a:prstGeom prst="roundRect">
            <a:avLst>
              <a:gd name="adj" fmla="val 8333"/>
            </a:avLst>
          </a:prstGeom>
          <a:solidFill>
            <a:srgbClr val="FFF3F0"/>
          </a:solidFill>
          <a:ln w="12700">
            <a:solidFill>
              <a:srgbClr val="E5B8A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355701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B7192E"/>
                </a:solidFill>
              </a:rPr>
              <a:t>价值投资</a:t>
            </a:r>
            <a:endParaRPr lang="en-US" sz="690" dirty="0"/>
          </a:p>
        </p:txBody>
      </p:sp>
      <p:sp>
        <p:nvSpPr>
          <p:cNvPr id="30" name="Shape 28"/>
          <p:cNvSpPr/>
          <p:nvPr/>
        </p:nvSpPr>
        <p:spPr>
          <a:xfrm>
            <a:off x="8705088" y="3429000"/>
            <a:ext cx="1051560" cy="438912"/>
          </a:xfrm>
          <a:prstGeom prst="roundRect">
            <a:avLst>
              <a:gd name="adj" fmla="val 8333"/>
            </a:avLst>
          </a:prstGeom>
          <a:solidFill>
            <a:srgbClr val="FFF3F0"/>
          </a:solidFill>
          <a:ln w="12700">
            <a:solidFill>
              <a:srgbClr val="E5B8A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05088" y="355701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B7192E"/>
                </a:solidFill>
              </a:rPr>
              <a:t>趋势交易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10049256" y="3429000"/>
            <a:ext cx="1051560" cy="438912"/>
          </a:xfrm>
          <a:prstGeom prst="roundRect">
            <a:avLst>
              <a:gd name="adj" fmla="val 8333"/>
            </a:avLst>
          </a:prstGeom>
          <a:solidFill>
            <a:srgbClr val="FFF3F0"/>
          </a:solidFill>
          <a:ln w="12700">
            <a:solidFill>
              <a:srgbClr val="E5B8A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49256" y="355701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B7192E"/>
                </a:solidFill>
              </a:rPr>
              <a:t>综合决策</a:t>
            </a:r>
            <a:endParaRPr lang="en-US" sz="690" dirty="0"/>
          </a:p>
        </p:txBody>
      </p:sp>
      <p:sp>
        <p:nvSpPr>
          <p:cNvPr id="34" name="Shape 32"/>
          <p:cNvSpPr/>
          <p:nvPr/>
        </p:nvSpPr>
        <p:spPr>
          <a:xfrm>
            <a:off x="5852160" y="2734056"/>
            <a:ext cx="201168" cy="0"/>
          </a:xfrm>
          <a:prstGeom prst="line">
            <a:avLst/>
          </a:prstGeom>
          <a:noFill/>
          <a:ln w="15240">
            <a:solidFill>
              <a:srgbClr val="98A6B3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852160" y="2734056"/>
            <a:ext cx="1508760" cy="0"/>
          </a:xfrm>
          <a:prstGeom prst="line">
            <a:avLst/>
          </a:prstGeom>
          <a:noFill/>
          <a:ln w="15240">
            <a:solidFill>
              <a:srgbClr val="98A6B3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104888" y="2944368"/>
            <a:ext cx="1901952" cy="484632"/>
          </a:xfrm>
          <a:prstGeom prst="line">
            <a:avLst/>
          </a:prstGeom>
          <a:noFill/>
          <a:ln w="15240">
            <a:solidFill>
              <a:srgbClr val="98A6B3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412480" y="2944368"/>
            <a:ext cx="594360" cy="484632"/>
          </a:xfrm>
          <a:prstGeom prst="line">
            <a:avLst/>
          </a:prstGeom>
          <a:noFill/>
          <a:ln w="15240">
            <a:solidFill>
              <a:srgbClr val="98A6B3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7315200" y="39502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7192E"/>
                </a:solidFill>
              </a:rPr>
              <a:t>3 个并行候选决策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777240" y="4572000"/>
            <a:ext cx="10652760" cy="1024128"/>
          </a:xfrm>
          <a:prstGeom prst="roundRect">
            <a:avLst>
              <a:gd name="adj" fmla="val 5357"/>
            </a:avLst>
          </a:prstGeom>
          <a:solidFill>
            <a:srgbClr val="EAF4F1"/>
          </a:solidFill>
          <a:ln w="12700">
            <a:solidFill>
              <a:srgbClr val="B7D9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0120" y="473659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836D"/>
                </a:solidFill>
              </a:rPr>
              <a:t>零侵入监控层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60120" y="504748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6727D"/>
                </a:solidFill>
              </a:rPr>
              <a:t>astream_events → 标准 TraceRecord</a:t>
            </a:r>
            <a:endParaRPr lang="en-US" sz="740" dirty="0"/>
          </a:p>
        </p:txBody>
      </p:sp>
      <p:sp>
        <p:nvSpPr>
          <p:cNvPr id="42" name="Shape 40"/>
          <p:cNvSpPr/>
          <p:nvPr/>
        </p:nvSpPr>
        <p:spPr>
          <a:xfrm>
            <a:off x="3383280" y="4901184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83280" y="4956048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</a:rPr>
              <a:t>Trace 采集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5074920" y="4901184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74920" y="4956048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</a:rPr>
              <a:t>三层异常检测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6903720" y="4901184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03720" y="4956048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</a:rPr>
              <a:t>五维质量评价</a:t>
            </a:r>
            <a:endParaRPr lang="en-US" sz="720" dirty="0"/>
          </a:p>
        </p:txBody>
      </p:sp>
      <p:sp>
        <p:nvSpPr>
          <p:cNvPr id="48" name="Shape 46"/>
          <p:cNvSpPr/>
          <p:nvPr/>
        </p:nvSpPr>
        <p:spPr>
          <a:xfrm>
            <a:off x="8732520" y="4901184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32520" y="4956048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</a:rPr>
              <a:t>候选筛选 / 反馈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3337560" y="5340096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66727D"/>
                </a:solidFill>
              </a:rPr>
              <a:t>PostgreSQL 持久化  ·  WebSocket 实时推送  ·  Dashboard 可视化</a:t>
            </a:r>
            <a:endParaRPr lang="en-US" sz="740" dirty="0"/>
          </a:p>
        </p:txBody>
      </p:sp>
      <p:sp>
        <p:nvSpPr>
          <p:cNvPr id="51" name="Text 49"/>
          <p:cNvSpPr/>
          <p:nvPr/>
        </p:nvSpPr>
        <p:spPr>
          <a:xfrm>
            <a:off x="1828800" y="58704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836D"/>
                </a:solidFill>
              </a:rPr>
              <a:t>关键设计：业务 Demo 不 import 监控代码；更换业务场景时，监控平台无需重写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B719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核心项目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232D"/>
                </a:solidFill>
              </a:rPr>
              <a:t>智能监控：从“最终结果”下钻到“执行过程”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27D"/>
                </a:solidFill>
              </a:rPr>
              <a:t>零侵入采集 + 规则异常监控 + 实时可视化 + 合规拦截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56248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AA4AD"/>
                </a:solidFill>
              </a:rPr>
              <a:t>实习答辩  ·  跨智能体协同执行智能监控与结果筛选优化研究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658368" y="1417320"/>
            <a:ext cx="841248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56362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执行状态采集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68880" y="1563624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8232D"/>
                </a:solidFill>
              </a:rPr>
              <a:t>起止时间 / 输入输出 / 耗时 / Token / 状态 / 父子关系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6995160" y="15636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66727D"/>
                </a:solidFill>
              </a:rPr>
              <a:t>回答：谁在跑、跑到哪一步？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658368" y="2404872"/>
            <a:ext cx="841248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55117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三层异常检测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468880" y="2551176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8232D"/>
                </a:solidFill>
              </a:rPr>
              <a:t>执行层：超时/失败  ·  行为层：循环/缺节点  ·  输出层：空输出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995160" y="25511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66727D"/>
                </a:solidFill>
              </a:rPr>
              <a:t>回答：执行过程是否异常？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658368" y="3392424"/>
            <a:ext cx="841248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53872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7192E"/>
                </a:solidFill>
              </a:rPr>
              <a:t>合规与发布检查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468880" y="3538728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8232D"/>
                </a:solidFill>
              </a:rPr>
              <a:t>敏感词库句级检测；命中句标红、拦截并记录告警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6995160" y="35387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66727D"/>
                </a:solidFill>
              </a:rPr>
              <a:t>回答：结果能不能对外发布？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658368" y="4379976"/>
            <a:ext cx="8412480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52628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实时可视化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68880" y="4526280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8232D"/>
                </a:solidFill>
              </a:rPr>
              <a:t>Trace 入库后通过 WebSocket 推送 Dashboard，展示拓扑、链路与告警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699516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66727D"/>
                </a:solidFill>
              </a:rPr>
              <a:t>回答：能否实时定位和回溯？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9372600" y="1417320"/>
            <a:ext cx="2148840" cy="3712464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72600" y="1417320"/>
            <a:ext cx="32004" cy="3712464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37192" y="15819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32D"/>
                </a:solidFill>
              </a:rPr>
              <a:t>异常处理边界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537192" y="1984248"/>
            <a:ext cx="1819656" cy="2999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• 异常检测以规则扫描为主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• 无显式 Retry 机制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• LLM 评价失败时采用降级兜底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• LangGraph 使用内存 State，不宣称 Checkpoint 持久化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1371600" y="5532120"/>
            <a:ext cx="7498080" cy="457200"/>
          </a:xfrm>
          <a:prstGeom prst="roundRect">
            <a:avLst>
              <a:gd name="adj" fmla="val 10000"/>
            </a:avLst>
          </a:prstGeom>
          <a:solidFill>
            <a:srgbClr val="E9F2F8"/>
          </a:solidFill>
          <a:ln w="12700">
            <a:solidFill>
              <a:srgbClr val="C9DC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71600" y="5669280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E79"/>
                </a:solidFill>
              </a:rPr>
              <a:t>Agent 执行 → astream_events → TraceRecord → PostgreSQL → 监控管线 → WebSocket → Dashboard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B719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核心项目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232D"/>
                </a:solidFill>
              </a:rPr>
              <a:t>结果筛选优化：从“三个候选”得到“更可信的推荐”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27D"/>
                </a:solidFill>
              </a:rPr>
              <a:t>规则约束 + LLM-as-Judge 双层评价，不直接相信第一次生成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56248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AA4AD"/>
                </a:solidFill>
              </a:rPr>
              <a:t>实习答辩  ·  跨智能体协同执行智能监控与结果筛选优化研究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685800" y="1508760"/>
            <a:ext cx="1828800" cy="438912"/>
          </a:xfrm>
          <a:prstGeom prst="roundRect">
            <a:avLst>
              <a:gd name="adj" fmla="val 8333"/>
            </a:avLst>
          </a:prstGeom>
          <a:solidFill>
            <a:srgbClr val="F0F5F8"/>
          </a:solidFill>
          <a:ln w="12700">
            <a:solidFill>
              <a:srgbClr val="C9D6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636776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79"/>
                </a:solidFill>
              </a:rPr>
              <a:t>价值投资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2240280"/>
            <a:ext cx="1828800" cy="438912"/>
          </a:xfrm>
          <a:prstGeom prst="roundRect">
            <a:avLst>
              <a:gd name="adj" fmla="val 8333"/>
            </a:avLst>
          </a:prstGeom>
          <a:solidFill>
            <a:srgbClr val="FFF3F0"/>
          </a:solidFill>
          <a:ln w="12700">
            <a:solidFill>
              <a:srgbClr val="E5B8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368296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7192E"/>
                </a:solidFill>
              </a:rPr>
              <a:t>趋势交易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85800" y="2971800"/>
            <a:ext cx="1828800" cy="438912"/>
          </a:xfrm>
          <a:prstGeom prst="roundRect">
            <a:avLst>
              <a:gd name="adj" fmla="val 8333"/>
            </a:avLst>
          </a:prstGeom>
          <a:solidFill>
            <a:srgbClr val="F0F5F8"/>
          </a:solidFill>
          <a:ln w="12700">
            <a:solidFill>
              <a:srgbClr val="C9D6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099816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79"/>
                </a:solidFill>
              </a:rPr>
              <a:t>综合决策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85800" y="38404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27D"/>
                </a:solidFill>
              </a:rPr>
              <a:t>3 个并行候选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560320" y="2240280"/>
            <a:ext cx="640080" cy="0"/>
          </a:xfrm>
          <a:prstGeom prst="line">
            <a:avLst/>
          </a:prstGeom>
          <a:noFill/>
          <a:ln w="15240">
            <a:solidFill>
              <a:srgbClr val="98A6B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200400" y="1645920"/>
            <a:ext cx="1353312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73552" y="1856232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232D"/>
                </a:solidFill>
              </a:rPr>
              <a:t>① 异常过滤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291840" y="222199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6727D"/>
                </a:solidFill>
              </a:rPr>
              <a:t>剔除超时 / 失败 / 违规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572000" y="2240280"/>
            <a:ext cx="246888" cy="0"/>
          </a:xfrm>
          <a:prstGeom prst="line">
            <a:avLst/>
          </a:prstGeom>
          <a:noFill/>
          <a:ln w="15240">
            <a:solidFill>
              <a:srgbClr val="98A6B3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828032" y="1645920"/>
            <a:ext cx="1353312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1856232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232D"/>
                </a:solidFill>
              </a:rPr>
              <a:t>② 质量排序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19472" y="222199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6727D"/>
                </a:solidFill>
              </a:rPr>
              <a:t>五维加权质量分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6199632" y="2240280"/>
            <a:ext cx="246888" cy="0"/>
          </a:xfrm>
          <a:prstGeom prst="line">
            <a:avLst/>
          </a:prstGeom>
          <a:noFill/>
          <a:ln w="15240">
            <a:solidFill>
              <a:srgbClr val="98A6B3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455664" y="1645920"/>
            <a:ext cx="1353312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28816" y="1856232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232D"/>
                </a:solidFill>
              </a:rPr>
              <a:t>③ 相似去重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47104" y="222199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6727D"/>
                </a:solidFill>
              </a:rPr>
              <a:t>减少重复候选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7827264" y="2240280"/>
            <a:ext cx="246888" cy="0"/>
          </a:xfrm>
          <a:prstGeom prst="line">
            <a:avLst/>
          </a:prstGeom>
          <a:noFill/>
          <a:ln w="15240">
            <a:solidFill>
              <a:srgbClr val="98A6B3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3296" y="1645920"/>
            <a:ext cx="1353312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5240">
            <a:solidFill>
              <a:srgbClr val="B719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56448" y="1856232"/>
            <a:ext cx="1207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7192E"/>
                </a:solidFill>
              </a:rPr>
              <a:t>④ 推荐标记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174736" y="2221992"/>
            <a:ext cx="1170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66727D"/>
                </a:solidFill>
              </a:rPr>
              <a:t>采纳 / 备选 / 存档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9646920" y="2240280"/>
            <a:ext cx="502920" cy="0"/>
          </a:xfrm>
          <a:prstGeom prst="line">
            <a:avLst/>
          </a:prstGeom>
          <a:noFill/>
          <a:ln w="15240">
            <a:solidFill>
              <a:srgbClr val="98A6B3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149840" y="1645920"/>
            <a:ext cx="1325880" cy="1188720"/>
          </a:xfrm>
          <a:prstGeom prst="roundRect">
            <a:avLst>
              <a:gd name="adj" fmla="val 3846"/>
            </a:avLst>
          </a:prstGeom>
          <a:solidFill>
            <a:srgbClr val="FDECEF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149840" y="19659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7192E"/>
                </a:solidFill>
              </a:rPr>
              <a:t>最优结果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85800" y="4251960"/>
            <a:ext cx="512064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4251960"/>
            <a:ext cx="32004" cy="13258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4416552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32D"/>
                </a:solidFill>
              </a:rPr>
              <a:t>五维质量评价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50392" y="4818888"/>
            <a:ext cx="479145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合规性 30%  ·  准确性 25%  ·  完整性 20%  ·  相关性 15%  ·  时效性 10%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规则负责确定性检查，LLM-as-Judge 负责语义层评价。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6126480" y="4251960"/>
            <a:ext cx="534924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0" y="4251960"/>
            <a:ext cx="32004" cy="1325880"/>
          </a:xfrm>
          <a:prstGeom prst="rect">
            <a:avLst/>
          </a:prstGeom>
          <a:solidFill>
            <a:srgbClr val="16836D"/>
          </a:solidFill>
          <a:ln w="12700">
            <a:solidFill>
              <a:srgbClr val="16836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91072" y="44165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32D"/>
                </a:solidFill>
              </a:rPr>
              <a:t>反馈闭环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291072" y="4818888"/>
            <a:ext cx="5020056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质量不达标 → 生成面向 Agent 的反馈指令 → 写入动态指令库 → 下次执行回灌 Prompt。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指令可追踪、可覆盖、可删除，避免无限堆积。</a:t>
            </a:r>
            <a:endParaRPr lang="en-US" sz="9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B719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核心项目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232D"/>
                </a:solidFill>
              </a:rPr>
              <a:t>证券公司应用场景：价值不只在“答得快”，更在“可控可信”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27D"/>
                </a:solidFill>
              </a:rPr>
              <a:t>当前为原型系统，以下为能力与证券业务需求的匹配，不代表已生产落地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56248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AA4AD"/>
                </a:solidFill>
              </a:rPr>
              <a:t>实习答辩  ·  跨智能体协同执行智能监控与结果筛选优化研究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640080" y="1463040"/>
            <a:ext cx="3520440" cy="42519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32004" cy="4251960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627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32D"/>
                </a:solidFill>
              </a:rPr>
              <a:t>投研辅助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04672" y="2029968"/>
            <a:ext cx="3191256" cy="3538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业务痛点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多源信息、长分析链路，人工整合耗时。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项目能力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七 Agent 分工完成数据采集、技术面、基本面、风控和多策略决策。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价值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自动化重复分析步骤，让研究人员更聚焦研判。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343400" y="1463040"/>
            <a:ext cx="3520440" cy="42519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463040"/>
            <a:ext cx="32004" cy="425196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07992" y="1627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32D"/>
                </a:solidFill>
              </a:rPr>
              <a:t>投顾 / 客服辅助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07992" y="2029968"/>
            <a:ext cx="3191256" cy="3538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业务痛点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多步骤问答质量要求高，同时存在严格合规约束。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项目能力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上下文记忆 + 句级敏感词检测与拦截 + 质量评价。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价值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辅助生成更可控的回答，降低违规表述直接输出的风险。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520440" cy="42519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1463040"/>
            <a:ext cx="32004" cy="4251960"/>
          </a:xfrm>
          <a:prstGeom prst="rect">
            <a:avLst/>
          </a:prstGeom>
          <a:solidFill>
            <a:srgbClr val="16836D"/>
          </a:solidFill>
          <a:ln w="12700">
            <a:solidFill>
              <a:srgbClr val="16836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1312" y="1627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32D"/>
                </a:solidFill>
              </a:rPr>
              <a:t>内部运营 / 风控辅助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11312" y="2029968"/>
            <a:ext cx="3191256" cy="3538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业务痛点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Agent 化流程难追踪，异常定位与审计困难。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项目能力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全链路 Trace、异常告警、拓扑可视化、结果回溯。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价值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让自动化流程“可观测、可审计、可追溯”。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2926080" y="5961888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7192E"/>
                </a:solidFill>
              </a:rPr>
              <a:t>不替代持牌投资顾问  ·  不宣称生产部署  ·  不虚构业务收益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B719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核心项目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232D"/>
                </a:solidFill>
              </a:rPr>
              <a:t>项目实机展示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27D"/>
                </a:solidFill>
              </a:rPr>
              <a:t>Demo Case：分析 600519 贵州茅台  ·  建议视频 45–60 秒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56248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AA4AD"/>
                </a:solidFill>
              </a:rPr>
              <a:t>实习答辩  ·  跨智能体协同执行智能监控与结果筛选优化研究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658368" y="1417320"/>
            <a:ext cx="8641080" cy="4480560"/>
          </a:xfrm>
          <a:prstGeom prst="roundRect">
            <a:avLst>
              <a:gd name="adj" fmla="val 2449"/>
            </a:avLst>
          </a:prstGeom>
          <a:solidFill>
            <a:srgbClr val="111B27"/>
          </a:solidFill>
          <a:ln w="12700">
            <a:solidFill>
              <a:srgbClr val="111B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43984" y="3090672"/>
            <a:ext cx="713232" cy="713232"/>
          </a:xfrm>
          <a:prstGeom prst="ellipse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255264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▶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108960" y="404164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在此插入项目实机演示视频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88920" y="440740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BF"/>
                </a:solidFill>
              </a:rPr>
              <a:t>推荐展示：正常查询 → 候选排名 → 合规拦截 → Trace / 告警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9646920" y="14813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7192E"/>
                </a:solidFill>
              </a:rPr>
              <a:t>演示重点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46920" y="201168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B7192E"/>
                </a:solidFill>
              </a:rPr>
              <a:t>01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0058400" y="199339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8232D"/>
                </a:solidFill>
              </a:rPr>
              <a:t>七 Agent 协同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0" y="22677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27D"/>
                </a:solidFill>
              </a:rPr>
              <a:t>步骤条实时点亮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9646920" y="28803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B7192E"/>
                </a:solidFill>
              </a:rPr>
              <a:t>02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0058400" y="28620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8232D"/>
                </a:solidFill>
              </a:rPr>
              <a:t>执行监控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058400" y="31363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27D"/>
                </a:solidFill>
              </a:rPr>
              <a:t>Trace / 质量 / 告警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9646920" y="374904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B7192E"/>
                </a:solidFill>
              </a:rPr>
              <a:t>03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0058400" y="37307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8232D"/>
                </a:solidFill>
              </a:rPr>
              <a:t>结果筛选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058400" y="40050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27D"/>
                </a:solidFill>
              </a:rPr>
              <a:t>3 候选排序推荐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9646920" y="461772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B7192E"/>
                </a:solidFill>
              </a:rPr>
              <a:t>04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0058400" y="459943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8232D"/>
                </a:solidFill>
              </a:rPr>
              <a:t>合规拦截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058400" y="48737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27D"/>
                </a:solidFill>
              </a:rPr>
              <a:t>违规句标红并拦截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B719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实习收获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232D"/>
                </a:solidFill>
              </a:rPr>
              <a:t>从“完成任务”到“解决问题”的工作方式升级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27D"/>
                </a:solidFill>
              </a:rPr>
              <a:t>项目之外，更重要的是形成可复用的问题拆解、学习与协作方式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56248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AA4AD"/>
                </a:solidFill>
              </a:rPr>
              <a:t>实习答辩  ·  跨智能体协同执行智能监控与结果筛选优化研究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685800" y="1508760"/>
            <a:ext cx="3337560" cy="4114800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08760"/>
            <a:ext cx="32004" cy="4114800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6733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32D"/>
                </a:solidFill>
              </a:rPr>
              <a:t>工作方式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50392" y="2075688"/>
            <a:ext cx="3008376" cy="3401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从“先学全再做”到“边做边验证”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先跑通最小链路，再逐层加入零侵入适配器、反馈闭环、多轮对话与合规拦截。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关键词：最小验证 · 快速迭代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425696" y="1508760"/>
            <a:ext cx="3337560" cy="4114800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25696" y="1508760"/>
            <a:ext cx="32004" cy="411480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0288" y="16733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32D"/>
                </a:solidFill>
              </a:rPr>
              <a:t>学习方式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90288" y="2075688"/>
            <a:ext cx="3008376" cy="3401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遇到问题先定位，再带着具体问题查源码与 issue。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LangGraph 版本变化导致旧回调无法采集 Trace，最终通过阅读源码切换到 astream_events。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关键词：问题驱动 · 源码定位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8165592" y="1508760"/>
            <a:ext cx="3337560" cy="4114800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10160">
            <a:solidFill>
              <a:srgbClr val="DDE3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65592" y="1508760"/>
            <a:ext cx="32004" cy="4114800"/>
          </a:xfrm>
          <a:prstGeom prst="rect">
            <a:avLst/>
          </a:prstGeom>
          <a:solidFill>
            <a:srgbClr val="16836D"/>
          </a:solidFill>
          <a:ln w="12700">
            <a:solidFill>
              <a:srgbClr val="16836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30184" y="16733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32D"/>
                </a:solidFill>
              </a:rPr>
              <a:t>团队协作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30184" y="2075688"/>
            <a:ext cx="3008376" cy="3401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把“接口边界”当成沟通语言。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通过约定 Demo 与监控零侵入解耦、服务之间使用明确接口，让模块职责和协作边界更清楚。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66727D"/>
                </a:solidFill>
              </a:rPr>
              <a:t>关键词：边界清晰 · 文档对齐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3063240" y="5897880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6727D"/>
                </a:solidFill>
              </a:rPr>
              <a:t>企业文化认识：【待本人结合实际实习体验补充】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B719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辅导员寄语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232D"/>
                </a:solidFill>
              </a:rPr>
              <a:t>实习辅导员寄语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27D"/>
                </a:solidFill>
              </a:rPr>
              <a:t>在实践中保持好奇，在迭代中持续成长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56248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AA4AD"/>
                </a:solidFill>
              </a:rPr>
              <a:t>实习答辩  ·  跨智能体协同执行智能监控与结果筛选优化研究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8503920" cy="4389120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6A7B0"/>
                </a:solidFill>
              </a:rPr>
              <a:t>“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508760" y="22402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232D"/>
                </a:solidFill>
              </a:rPr>
              <a:t>【待辅导员填写寄语】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315468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27D"/>
                </a:solidFill>
              </a:rPr>
              <a:t>建议控制在 80–150 字，可包含：学习态度、技术成长、工作方式、未来期待。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126480" y="50749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27D"/>
                </a:solidFill>
              </a:rPr>
              <a:t>— 实习辅导员：【待填写】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555480" y="1417320"/>
            <a:ext cx="1920240" cy="2834640"/>
          </a:xfrm>
          <a:prstGeom prst="roundRect">
            <a:avLst>
              <a:gd name="adj" fmla="val 1905"/>
            </a:avLst>
          </a:prstGeom>
          <a:solidFill>
            <a:srgbClr val="E8EDF1"/>
          </a:solidFill>
          <a:ln w="12700">
            <a:solidFill>
              <a:srgbClr val="E8ED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5548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99A4"/>
                </a:solidFill>
              </a:rPr>
              <a:t>照片 / 签名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8C99A4"/>
                </a:solidFill>
              </a:rPr>
              <a:t>占位区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555480" y="4892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7192E"/>
                </a:solidFill>
              </a:rPr>
              <a:t>感谢各位老师指导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7192E"/>
          </a:solidFill>
          <a:ln w="12700">
            <a:solidFill>
              <a:srgbClr val="B719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B719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Q&amp;A  答辩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232D"/>
                </a:solidFill>
              </a:rPr>
              <a:t>可能被追问的 6 个问题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27D"/>
                </a:solidFill>
              </a:rPr>
              <a:t>建议把回答控制在 30–60 秒，优先结合真实实现和技术取舍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556248"/>
            <a:ext cx="6217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9AA4AD"/>
                </a:solidFill>
              </a:rPr>
              <a:t>实习答辩  ·  跨智能体协同执行智能监控与结果筛选优化研究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685800" y="1508760"/>
            <a:ext cx="507492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6733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7192E"/>
                </a:solidFill>
              </a:rPr>
              <a:t>01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71600" y="16642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8232D"/>
                </a:solidFill>
              </a:rPr>
              <a:t>为什么要用 Multi-Agent，而不是单 Agent？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63640" y="1508760"/>
            <a:ext cx="507492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16733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7192E"/>
                </a:solidFill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949440" y="16642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8232D"/>
                </a:solidFill>
              </a:rPr>
              <a:t>零侵入监控是怎么做到的？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685800" y="2807208"/>
            <a:ext cx="507492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" y="297180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7192E"/>
                </a:solidFill>
              </a:rPr>
              <a:t>03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371600" y="29626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8232D"/>
                </a:solidFill>
              </a:rPr>
              <a:t>规则 + LLM-as-Judge 为什么要组合？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6263640" y="2807208"/>
            <a:ext cx="507492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297180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7192E"/>
                </a:solidFill>
              </a:rPr>
              <a:t>04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949440" y="29626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8232D"/>
                </a:solidFill>
              </a:rPr>
              <a:t>三个候选决策为什么有差异？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685800" y="4105656"/>
            <a:ext cx="507492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0392" y="42702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7192E"/>
                </a:solidFill>
              </a:rPr>
              <a:t>05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371600" y="426110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8232D"/>
                </a:solidFill>
              </a:rPr>
              <a:t>反馈闭环如何避免越改越差？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6263640" y="4105656"/>
            <a:ext cx="507492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28232" y="42702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7192E"/>
                </a:solidFill>
              </a:rPr>
              <a:t>06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949440" y="426110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8232D"/>
                </a:solidFill>
              </a:rPr>
              <a:t>系统当前最大的瓶颈和下一步优化？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3840480" y="57150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334A"/>
                </a:solidFill>
              </a:rPr>
              <a:t>感谢聆听 · Q&amp;A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跨智能体协同执行智能监控与结果筛选优化研究</dc:title>
  <dc:subject>实习答辩</dc:subject>
  <dc:creator>OpenAI</dc:creator>
  <cp:lastModifiedBy>OpenAI</cp:lastModifiedBy>
  <cp:revision>1</cp:revision>
  <dcterms:created xsi:type="dcterms:W3CDTF">2026-09-03T14:16:31Z</dcterms:created>
  <dcterms:modified xsi:type="dcterms:W3CDTF">2026-09-03T14:16:31Z</dcterms:modified>
</cp:coreProperties>
</file>