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7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21F2D"/>
          </a:solidFill>
          <a:ln w="12700">
            <a:solidFill>
              <a:srgbClr val="B21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中信建投证券 · 实习答辩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132320" y="6510528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跨智能体协同执行智能监控与结果筛选优化研究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"/>
            <a:ext cx="3749040" cy="6400800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548640" y="640080"/>
            <a:ext cx="2103120" cy="2103120"/>
          </a:xfrm>
          <a:prstGeom prst="arc">
            <a:avLst/>
          </a:prstGeom>
          <a:solidFill>
            <a:srgbClr val="18324A">
              <a:alpha val="0"/>
            </a:srgbClr>
          </a:solidFill>
          <a:ln w="25400">
            <a:solidFill>
              <a:srgbClr val="52708C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04288" y="1618488"/>
            <a:ext cx="146304" cy="146304"/>
          </a:xfrm>
          <a:prstGeom prst="ellipse">
            <a:avLst/>
          </a:prstGeom>
          <a:solidFill>
            <a:srgbClr val="B21F2D"/>
          </a:solidFill>
          <a:ln w="12700">
            <a:solidFill>
              <a:srgbClr val="B21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15668" y="2291598"/>
            <a:ext cx="146304" cy="146304"/>
          </a:xfrm>
          <a:prstGeom prst="ellipse">
            <a:avLst/>
          </a:prstGeom>
          <a:solidFill>
            <a:srgbClr val="8FB0CC"/>
          </a:solidFill>
          <a:ln w="12700">
            <a:solidFill>
              <a:srgbClr val="8FB0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" y="2291598"/>
            <a:ext cx="146304" cy="146304"/>
          </a:xfrm>
          <a:prstGeom prst="ellipse">
            <a:avLst/>
          </a:prstGeom>
          <a:solidFill>
            <a:srgbClr val="8FB0CC"/>
          </a:solidFill>
          <a:ln w="12700">
            <a:solidFill>
              <a:srgbClr val="8FB0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618488"/>
            <a:ext cx="146304" cy="146304"/>
          </a:xfrm>
          <a:prstGeom prst="ellipse">
            <a:avLst/>
          </a:prstGeom>
          <a:solidFill>
            <a:srgbClr val="8FB0CC"/>
          </a:solidFill>
          <a:ln w="12700">
            <a:solidFill>
              <a:srgbClr val="8FB0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8428" y="945378"/>
            <a:ext cx="146304" cy="146304"/>
          </a:xfrm>
          <a:prstGeom prst="ellipse">
            <a:avLst/>
          </a:prstGeom>
          <a:solidFill>
            <a:srgbClr val="8FB0CC"/>
          </a:solidFill>
          <a:ln w="12700">
            <a:solidFill>
              <a:srgbClr val="8FB0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15668" y="945378"/>
            <a:ext cx="146304" cy="146304"/>
          </a:xfrm>
          <a:prstGeom prst="ellipse">
            <a:avLst/>
          </a:prstGeom>
          <a:solidFill>
            <a:srgbClr val="8FB0CC"/>
          </a:solidFill>
          <a:ln w="12700">
            <a:solidFill>
              <a:srgbClr val="8FB0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291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实习答辩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21792" y="38221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A9B8C7"/>
                </a:solidFill>
              </a:rPr>
              <a:t>PRESENTATION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43400" y="1371600"/>
            <a:ext cx="7040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324A"/>
                </a:solidFill>
              </a:rPr>
              <a:t>跨智能体协同执行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8324A"/>
                </a:solidFill>
              </a:rPr>
              <a:t>智能监控与结果筛选优化研究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370832" y="288036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587"/>
                </a:solidFill>
              </a:rPr>
              <a:t>从技术机制到证券业务应用的项目实践与思考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70832" y="3401568"/>
            <a:ext cx="914400" cy="0"/>
          </a:xfrm>
          <a:prstGeom prst="line">
            <a:avLst/>
          </a:prstGeom>
          <a:noFill/>
          <a:ln w="38100">
            <a:solidFill>
              <a:srgbClr val="B21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379476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442"/>
                </a:solidFill>
              </a:rPr>
              <a:t>汇报人：XXX    部门：XXX    实习辅导员：XXX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442"/>
                </a:solidFill>
              </a:rPr>
              <a:t>答辩日期：2026年9月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70832" y="51663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5B88"/>
                </a:solidFill>
              </a:rPr>
              <a:t>建议总页数：8–9页  ·  个人阐述控制在 7–8 分钟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21F2D"/>
                </a:solidFill>
              </a:rPr>
              <a:t>01  实习内容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</a:rPr>
              <a:t>实习工作概览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7"/>
                </a:solidFill>
              </a:rPr>
              <a:t>建议讲述 45–60 秒：只讲“做了什么 + 产出了什么”，不展开技术细节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645920"/>
            <a:ext cx="3429000" cy="34747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45920"/>
            <a:ext cx="64008" cy="3474720"/>
          </a:xfrm>
          <a:prstGeom prst="rect">
            <a:avLst/>
          </a:prstGeom>
          <a:solidFill>
            <a:srgbClr val="B21F2D"/>
          </a:solidFill>
          <a:ln w="12700">
            <a:solidFill>
              <a:srgbClr val="B21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课题研究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2176272"/>
            <a:ext cx="3044952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围绕跨智能体协同执行链路，研究任务状态监控、异常识别、结果质量评估与候选结果筛选机制。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429000" cy="34747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645920"/>
            <a:ext cx="64008" cy="347472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工程实践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0288" y="2176272"/>
            <a:ext cx="3044952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参与/搭建 Agent 协同流程；梳理调用链路与关键指标；完成监控、日志、结果评估或实验验证模块。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83880" y="1645920"/>
            <a:ext cx="3429000" cy="34747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645920"/>
            <a:ext cx="64008" cy="3474720"/>
          </a:xfrm>
          <a:prstGeom prst="rect">
            <a:avLst/>
          </a:prstGeom>
          <a:solidFill>
            <a:srgbClr val="2E7D6E"/>
          </a:solidFill>
          <a:ln w="12700">
            <a:solidFill>
              <a:srgbClr val="2E7D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阶段产出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85048" y="2176272"/>
            <a:ext cx="3044952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技术方案/调研总结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原型或核心模块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指标体系与实验结果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面向证券场景的应用分析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10819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7587"/>
                </a:solidFill>
              </a:rPr>
              <a:t>替换提示：把三张卡片改成你真实的“职责—行动—产出”，每张最多 3 行重点。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21F2D"/>
                </a:solidFill>
              </a:rPr>
              <a:t>02  核心项目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</a:rPr>
              <a:t>为什么要做跨智能体执行监控与结果筛选？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7"/>
                </a:solidFill>
              </a:rPr>
              <a:t>建议 50–60 秒：先定义问题，再给出你的研究目标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157276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324A"/>
                </a:solidFill>
              </a:rPr>
              <a:t>多智能体协同不是“调用更多模型”，而是一个可观测、可控制、可评价的执行系统。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58368" y="233172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420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88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24A"/>
                </a:solidFill>
              </a:rPr>
              <a:t>链路复杂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56432"/>
            <a:ext cx="19385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442"/>
                </a:solidFill>
              </a:rPr>
              <a:t>Agent 间存在规划、委派、工具调用与回传，故障点增多。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54096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2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93008" y="233172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5420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88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24A"/>
                </a:solidFill>
              </a:rPr>
              <a:t>过程不透明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3456432"/>
            <a:ext cx="19385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442"/>
                </a:solidFill>
              </a:rPr>
              <a:t>仅看最终答案难定位错误来源，缺少过程级状态与证据。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88736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2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27648" y="233172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5420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88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24A"/>
                </a:solidFill>
              </a:rPr>
              <a:t>结果不稳定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456432"/>
            <a:ext cx="19385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442"/>
                </a:solidFill>
              </a:rPr>
              <a:t>不同 Agent 可能产生冲突、重复或低质量候选结果。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23376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2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162288" y="233172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3F1"/>
          </a:solidFill>
          <a:ln w="12700">
            <a:solidFill>
              <a:srgbClr val="E7B8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25420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1F2D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24A"/>
                </a:solidFill>
              </a:rPr>
              <a:t>业务要求高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0" y="3456432"/>
            <a:ext cx="19385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63442"/>
                </a:solidFill>
              </a:rPr>
              <a:t>证券业务强调准确性、时效性、合规性与可追溯性。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5074920"/>
            <a:ext cx="8458200" cy="594360"/>
          </a:xfrm>
          <a:prstGeom prst="roundRect">
            <a:avLst>
              <a:gd name="adj" fmla="val 7692"/>
            </a:avLst>
          </a:prstGeom>
          <a:solidFill>
            <a:srgbClr val="EAF1F8"/>
          </a:solidFill>
          <a:ln w="12700">
            <a:solidFill>
              <a:srgbClr val="C9D8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526694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5B88"/>
                </a:solidFill>
              </a:rPr>
              <a:t>研究目标：让协同执行“看得见、控得住、选得准”，提升复杂任务的稳定性与结果可信度。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21F2D"/>
                </a:solidFill>
              </a:rPr>
              <a:t>02  核心项目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</a:rPr>
              <a:t>技术方案：监控 + 评估 + 筛选的闭环架构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7"/>
                </a:solidFill>
              </a:rPr>
              <a:t>建议 70–90 秒：沿箭头讲清数据如何流动，以及你负责的模块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6002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240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185416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24A"/>
                </a:solidFill>
              </a:rPr>
              <a:t>用户任务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94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7587"/>
                </a:solidFill>
              </a:rPr>
              <a:t>Query / Goal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86000" y="23317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5B88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06040" y="196596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240">
            <a:solidFill>
              <a:srgbClr val="DC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15768" y="2185416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24A"/>
                </a:solidFill>
              </a:rPr>
              <a:t>任务规划 Agent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97480" y="256946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7587"/>
                </a:solidFill>
              </a:rPr>
              <a:t>拆解 · 路由 · 调度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26280" y="23317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5B88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892040" y="196596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240">
            <a:solidFill>
              <a:srgbClr val="DC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2185416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24A"/>
                </a:solidFill>
              </a:rPr>
              <a:t>执行 Agent 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256946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7587"/>
                </a:solidFill>
              </a:rPr>
              <a:t>检索 · 工具 · 推理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12280" y="23317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5B88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178040" y="196596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FFF3F1"/>
          </a:solidFill>
          <a:ln w="15240">
            <a:solidFill>
              <a:srgbClr val="D99A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87768" y="2185416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1F2D"/>
                </a:solidFill>
              </a:rPr>
              <a:t>结果评估器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69480" y="256946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7587"/>
                </a:solidFill>
              </a:rPr>
              <a:t>质量 · 一致性 · 风险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098280" y="23317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5B88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464040" y="1965960"/>
            <a:ext cx="20116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240">
            <a:solidFill>
              <a:srgbClr val="DC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73768" y="218541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24A"/>
                </a:solidFill>
              </a:rPr>
              <a:t>筛选与输出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55480" y="25694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7587"/>
                </a:solidFill>
              </a:rPr>
              <a:t>排序 · 聚合 · 回退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057400" y="3703320"/>
            <a:ext cx="8138160" cy="1051560"/>
          </a:xfrm>
          <a:prstGeom prst="roundRect">
            <a:avLst>
              <a:gd name="adj" fmla="val 6087"/>
            </a:avLst>
          </a:prstGeom>
          <a:solidFill>
            <a:srgbClr val="EEF5F3"/>
          </a:solidFill>
          <a:ln w="12700">
            <a:solidFill>
              <a:srgbClr val="C7DD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3904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E"/>
                </a:solidFill>
              </a:rPr>
              <a:t>智能监控层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49040" y="3904488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442"/>
                </a:solidFill>
              </a:rPr>
              <a:t>Trace / 状态 / 时延 / Token / 工具调用 / 异常 / 重试 / 证据链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749040" y="42702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587"/>
                </a:solidFill>
              </a:rPr>
              <a:t>实时采集执行轨迹 → 识别异常节点 → 触发重试、降级或重新规划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26480" y="3675888"/>
            <a:ext cx="0" cy="-640080"/>
          </a:xfrm>
          <a:prstGeom prst="line">
            <a:avLst/>
          </a:prstGeom>
          <a:noFill/>
          <a:ln w="22860">
            <a:solidFill>
              <a:srgbClr val="2E7D6E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13232" y="525780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53263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你的工作①：监控指标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880360" y="525780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53263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你的工作②：异常策略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47488" y="525780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93208" y="53263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你的工作③：评估打分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14616" y="525780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0336" y="53263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你的工作④：筛选优化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400032" y="5330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7587"/>
                </a:solidFill>
              </a:rPr>
              <a:t>按实际参与内容保留 2–3 项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21F2D"/>
                </a:solidFill>
              </a:rPr>
              <a:t>02  核心项目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</a:rPr>
              <a:t>智能监控：从“最终结果”下钻到“执行过程”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7"/>
                </a:solidFill>
              </a:rPr>
              <a:t>建议 60–75 秒：突出可观测性与异常处置，不必堆实现细节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731520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019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7587"/>
                </a:solidFill>
              </a:rPr>
              <a:t>监控维度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9019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7587"/>
                </a:solidFill>
              </a:rPr>
              <a:t>典型指标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06440" y="1901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7587"/>
                </a:solidFill>
              </a:rPr>
              <a:t>价值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221992"/>
            <a:ext cx="672084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591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324A"/>
                </a:solidFill>
              </a:rPr>
              <a:t>运行状态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68880" y="235915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442"/>
                </a:solidFill>
              </a:rPr>
              <a:t>任务成功率 / Agent 成功率 / 重试次数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06440" y="235915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442"/>
                </a:solidFill>
              </a:rPr>
              <a:t>判断执行链路是否稳定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2971800"/>
            <a:ext cx="672084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1089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324A"/>
                </a:solidFill>
              </a:rPr>
              <a:t>性能效率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68880" y="31089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442"/>
                </a:solidFill>
              </a:rPr>
              <a:t>端到端时延 / 节点耗时 / Token / 工具耗时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06440" y="3108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442"/>
                </a:solidFill>
              </a:rPr>
              <a:t>定位性能瓶颈与资源消耗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3721608"/>
            <a:ext cx="672084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8587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1F2D"/>
                </a:solidFill>
              </a:rPr>
              <a:t>质量风险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468880" y="385876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442"/>
                </a:solidFill>
              </a:rPr>
              <a:t>格式校验 / 事实一致性 / 置信度 / 冲突率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06440" y="38587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442"/>
                </a:solidFill>
              </a:rPr>
              <a:t>提前发现低质量候选结果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4471416"/>
            <a:ext cx="672084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6085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324A"/>
                </a:solidFill>
              </a:rPr>
              <a:t>可追溯性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468880" y="46085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442"/>
                </a:solidFill>
              </a:rPr>
              <a:t>Trace ID / 输入输出 / 工具证据 / 异常日志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06440" y="460857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442"/>
                </a:solidFill>
              </a:rPr>
              <a:t>支持复盘、审计与问题定位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66760" y="164592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6760" y="1645920"/>
            <a:ext cx="64008" cy="1828800"/>
          </a:xfrm>
          <a:prstGeom prst="rect">
            <a:avLst/>
          </a:prstGeom>
          <a:solidFill>
            <a:srgbClr val="B21F2D"/>
          </a:solidFill>
          <a:ln w="12700">
            <a:solidFill>
              <a:srgbClr val="B21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67928" y="18105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异常处置闭环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67928" y="2176272"/>
            <a:ext cx="281635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发现异常 → 定位节点 → 判断可恢复性 → 重试 / 切换 Agent / 降级 / 人工兜底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66760" y="370332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6760" y="3703320"/>
            <a:ext cx="64008" cy="2103120"/>
          </a:xfrm>
          <a:prstGeom prst="rect">
            <a:avLst/>
          </a:prstGeom>
          <a:solidFill>
            <a:srgbClr val="2E7D6E"/>
          </a:solidFill>
          <a:ln w="12700">
            <a:solidFill>
              <a:srgbClr val="2E7D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67928" y="3867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答辩时可展示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567928" y="4233672"/>
            <a:ext cx="2816352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一张真实 Trace 截图、监控面板或异常案例，比大段代码更适合答辩。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21F2D"/>
                </a:solidFill>
              </a:rPr>
              <a:t>02  核心项目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</a:rPr>
              <a:t>结果筛选优化：把“多个答案”变成“可信答案”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7"/>
                </a:solidFill>
              </a:rPr>
              <a:t>建议 70–90 秒：讲清评价维度、筛选策略和实验指标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A"/>
                </a:solidFill>
              </a:rPr>
              <a:t>候选结果 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A"/>
                </a:solidFill>
              </a:rPr>
              <a:t>候选结果 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A"/>
                </a:solidFill>
              </a:rPr>
              <a:t>候选结果 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31720" y="1737360"/>
            <a:ext cx="1645920" cy="50292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2468880"/>
            <a:ext cx="1645920" cy="502920"/>
          </a:xfrm>
          <a:prstGeom prst="roundRect">
            <a:avLst>
              <a:gd name="adj" fmla="val 9091"/>
            </a:avLst>
          </a:prstGeom>
          <a:solidFill>
            <a:srgbClr val="FFF5EE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3200400"/>
            <a:ext cx="1645920" cy="502920"/>
          </a:xfrm>
          <a:prstGeom prst="roundRect">
            <a:avLst>
              <a:gd name="adj" fmla="val 9091"/>
            </a:avLst>
          </a:prstGeom>
          <a:solidFill>
            <a:srgbClr val="EEF5F3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21F2D"/>
                </a:solidFill>
              </a:rPr>
              <a:t>多维评估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15968" y="288036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1688" y="294894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正确性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33288" y="288036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9008" y="294894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相关性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15968" y="333756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1688" y="340614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完整性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33288" y="333756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79008" y="340614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一致性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15968" y="379476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B21F2D"/>
          </a:solidFill>
          <a:ln w="12700">
            <a:solidFill>
              <a:srgbClr val="B21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61688" y="386334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合规/风险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866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5B88"/>
                </a:solidFill>
              </a:rPr>
              <a:t>→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7726680" y="1965960"/>
            <a:ext cx="3611880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9050">
            <a:solidFill>
              <a:srgbClr val="C7DD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0100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6E"/>
                </a:solidFill>
              </a:rPr>
              <a:t>筛选策略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01000" y="2761488"/>
            <a:ext cx="28803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① 规则硬过滤：格式、敏感项、缺失证据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② 评分排序：加权分 / Judge 模型 / 一致性投票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③ 聚合与回退：融合优质结果，低置信度触发重试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14400" y="4983480"/>
            <a:ext cx="10241280" cy="658368"/>
          </a:xfrm>
          <a:prstGeom prst="roundRect">
            <a:avLst>
              <a:gd name="adj" fmla="val 6944"/>
            </a:avLst>
          </a:prstGeom>
          <a:solidFill>
            <a:srgbClr val="EAF1F8"/>
          </a:solidFill>
          <a:ln w="12700">
            <a:solidFill>
              <a:srgbClr val="C9D8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0432" y="5202936"/>
            <a:ext cx="9738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5B88"/>
                </a:solidFill>
              </a:rPr>
              <a:t>实验建议：用“准确率 / 任务成功率 / 平均时延 / Token 成本 / 人工复核率”对比优化前后；把真实数据替换到此处。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21F2D"/>
                </a:solidFill>
              </a:rPr>
              <a:t>02  核心项目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</a:rPr>
              <a:t>证券公司应用场景：价值不只在“答得快”，更在“可控可信”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7"/>
                </a:solidFill>
              </a:rPr>
              <a:t>建议 60–75 秒：选 1 个与你部门最贴近的场景重点讲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10835640" cy="1005840"/>
          </a:xfrm>
          <a:prstGeom prst="roundRect">
            <a:avLst>
              <a:gd name="adj" fmla="val 4545"/>
            </a:avLst>
          </a:prstGeom>
          <a:solidFill>
            <a:srgbClr val="FFF8F7"/>
          </a:solidFill>
          <a:ln w="12700">
            <a:solidFill>
              <a:srgbClr val="E8C5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476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1F2D"/>
                </a:solidFill>
              </a:rPr>
              <a:t>投研辅助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60320" y="1901952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263442"/>
                </a:solidFill>
              </a:rPr>
              <a:t>多 Agent 分工完成资料检索、财务分析、事件梳理与观点汇总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7726680" y="190195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2E5B88"/>
                </a:solidFill>
              </a:rPr>
              <a:t>来源追溯、观点冲突、事实一致性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85800" y="3035808"/>
            <a:ext cx="1083564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246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智能客服 / 投顾辅助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60320" y="3200400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263442"/>
                </a:solidFill>
              </a:rPr>
              <a:t>意图识别、知识检索、规则判断、回答生成协同执行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7726680" y="32004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2E5B88"/>
                </a:solidFill>
              </a:rPr>
              <a:t>合规边界、回答准确、低置信度兜底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85800" y="4334256"/>
            <a:ext cx="1083564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5445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运营与风控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60320" y="4498848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263442"/>
                </a:solidFill>
              </a:rPr>
              <a:t>多源信息采集、规则校验、异常分析、报告生成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7726680" y="449884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2E5B88"/>
                </a:solidFill>
              </a:rPr>
              <a:t>过程审计、异常告警、结果可解释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932688" y="1435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87587"/>
                </a:solidFill>
              </a:rPr>
              <a:t>场景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1435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87587"/>
                </a:solidFill>
              </a:rPr>
              <a:t>协同方式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26680" y="14356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87587"/>
                </a:solidFill>
              </a:rPr>
              <a:t>监控 / 筛选关注点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610819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7587"/>
                </a:solidFill>
              </a:rPr>
              <a:t>证券场景表达建议：少讲“万能 Agent”，多讲准确性、合规性、时效性、可追溯性和人工兜底。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21F2D"/>
                </a:solidFill>
              </a:rPr>
              <a:t>03  实习收获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</a:rPr>
              <a:t>从“完成任务”到“解决问题”的工作方式升级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7"/>
                </a:solidFill>
              </a:rPr>
              <a:t>建议 60–90 秒：每点配一个具体例子，避免只说抽象感受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45920"/>
            <a:ext cx="64008" cy="3566160"/>
          </a:xfrm>
          <a:prstGeom prst="rect">
            <a:avLst/>
          </a:prstGeom>
          <a:solidFill>
            <a:srgbClr val="B21F2D"/>
          </a:solidFill>
          <a:ln w="12700">
            <a:solidFill>
              <a:srgbClr val="B21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8105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工作方式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" y="2176272"/>
            <a:ext cx="2953512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从“先写代码”转向“先明确目标与验收标准”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拆解问题与风险前置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用指标验证，而非凭感觉判断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主动同步进度与阻塞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645920"/>
            <a:ext cx="64008" cy="3566160"/>
          </a:xfrm>
          <a:prstGeom prst="rect">
            <a:avLst/>
          </a:prstGeom>
          <a:solidFill>
            <a:srgbClr val="2E5B88"/>
          </a:solidFill>
          <a:ln w="12700">
            <a:solidFill>
              <a:srgbClr val="2E5B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8105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学习方式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6008" y="2176272"/>
            <a:ext cx="2953512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从“学知识点”转向“围绕真实问题构建知识体系”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文档 / 论文 / 源码交叉验证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小实验快速验证假设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沉淀可复用的方法与模板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83880" y="164592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645920"/>
            <a:ext cx="64008" cy="3566160"/>
          </a:xfrm>
          <a:prstGeom prst="rect">
            <a:avLst/>
          </a:prstGeom>
          <a:solidFill>
            <a:srgbClr val="2E7D6E"/>
          </a:solidFill>
          <a:ln w="12700">
            <a:solidFill>
              <a:srgbClr val="2E7D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8105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团队与文化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85048" y="2176272"/>
            <a:ext cx="2953512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对企业文化的理解落到具体行为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专业：对结果质量负责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协同：及时沟通、主动补位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合规：尊重边界、保留证据链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442"/>
                </a:solidFill>
              </a:rPr>
              <a:t>• 客户导向：技术最终服务业务价值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10819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7587"/>
                </a:solidFill>
              </a:rPr>
              <a:t>文化表述请结合你在中信建投真实观察到的制度、团队协作或辅导员指导方式进行替换。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21F2D"/>
                </a:solidFill>
              </a:rPr>
              <a:t>04  辅导员寄语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</a:rPr>
              <a:t>实习辅导员寄语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7"/>
                </a:solidFill>
              </a:rPr>
              <a:t>此页建议直接放辅导员原话；如果有签名/合影，可放右侧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73152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7A4AA"/>
                </a:solidFill>
              </a:rPr>
              <a:t>“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554480" y="2176272"/>
            <a:ext cx="589788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3442"/>
                </a:solidFill>
              </a:rPr>
              <a:t>请在这里粘贴实习辅导员寄语。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3442"/>
                </a:solidFill>
              </a:rPr>
              <a:t>建议 80–150 字，可包含：对实习表现的评价、技术/工作方式上的成长、未来发展的建议与期待。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212080" y="4983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8324A"/>
                </a:solidFill>
              </a:rPr>
              <a:t>—— 实习辅导员：XXX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49640" y="1645920"/>
            <a:ext cx="2834640" cy="2971800"/>
          </a:xfrm>
          <a:prstGeom prst="roundRect">
            <a:avLst>
              <a:gd name="adj" fmla="val 2581"/>
            </a:avLst>
          </a:prstGeom>
          <a:solidFill>
            <a:srgbClr val="E9EEF3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0" y="2743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87587"/>
                </a:solidFill>
              </a:rPr>
              <a:t>照片 / 签名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87587"/>
                </a:solidFill>
              </a:rPr>
              <a:t>占位区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95360" y="5074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21F2D"/>
                </a:solidFill>
              </a:rPr>
              <a:t>感谢各位老师指导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21F2D"/>
                </a:solidFill>
              </a:rPr>
              <a:t>Q&amp;A  备用页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4A"/>
                </a:solidFill>
              </a:rPr>
              <a:t>可能被追问的 6 个问题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587"/>
                </a:solidFill>
              </a:rPr>
              <a:t>本页可作为答辩备用，不主动讲；建议提前准备 30–45 秒版本答案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3232" y="1600200"/>
            <a:ext cx="50749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830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1F2D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99032" y="176479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8324A"/>
                </a:solidFill>
              </a:rPr>
              <a:t>为什么需要多智能体，而不是单 Agent？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0749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7830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1F2D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31152" y="176479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8324A"/>
                </a:solidFill>
              </a:rPr>
              <a:t>监控指标里，哪个最能反映系统稳定性？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3232" y="2926080"/>
            <a:ext cx="50749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1089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1F2D"/>
                </a:solidFill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99032" y="309067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8324A"/>
                </a:solidFill>
              </a:rPr>
              <a:t>结果评估如何避免 Judge 模型自身不可靠？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5352" y="2926080"/>
            <a:ext cx="50749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31089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1F2D"/>
                </a:solidFill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31152" y="309067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8324A"/>
                </a:solidFill>
              </a:rPr>
              <a:t>筛选优化带来了多少准确率提升与额外成本？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" y="4251960"/>
            <a:ext cx="50749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4348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1F2D"/>
                </a:solidFill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99032" y="441655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8324A"/>
                </a:solidFill>
              </a:rPr>
              <a:t>证券场景中如何处理合规与数据安全？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45352" y="4251960"/>
            <a:ext cx="50749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44348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1F2D"/>
                </a:solidFill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31152" y="441655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8324A"/>
                </a:solidFill>
              </a:rPr>
              <a:t>如果线上出现 Agent 循环/超时，你怎么止损？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10819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87587"/>
                </a:solidFill>
              </a:rPr>
              <a:t>建议额外准备：你的具体贡献占比、最难问题、失败案例、量化结果、如果再做一次会如何优化。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E2B3C"/>
                </a:solidFill>
                <a:latin typeface="Microsoft YaHei"/>
              </a:defRPr>
            </a:pPr>
            <a:r>
              <a:t>项目实机展示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4183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97382"/>
                </a:solidFill>
                <a:latin typeface="Microsoft YaHei"/>
              </a:defRPr>
            </a:pPr>
            <a:r>
              <a:t>跨智能体协同执行 · 智能监控 · 结果筛选优化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8412480" cy="4709160"/>
          </a:xfrm>
          <a:prstGeom prst="roundRect">
            <a:avLst/>
          </a:prstGeom>
          <a:solidFill>
            <a:srgbClr val="131D2B"/>
          </a:solidFill>
          <a:ln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426464"/>
            <a:ext cx="8394192" cy="347472"/>
          </a:xfrm>
          <a:prstGeom prst="rect">
            <a:avLst/>
          </a:prstGeom>
          <a:solidFill>
            <a:srgbClr val="23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536192"/>
            <a:ext cx="91440" cy="91440"/>
          </a:xfrm>
          <a:prstGeom prst="ellipse">
            <a:avLst/>
          </a:prstGeom>
          <a:solidFill>
            <a:srgbClr val="EF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1536192"/>
            <a:ext cx="91440" cy="91440"/>
          </a:xfrm>
          <a:prstGeom prst="ellipse">
            <a:avLst/>
          </a:prstGeom>
          <a:solidFill>
            <a:srgbClr val="F5B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1536192"/>
            <a:ext cx="91440" cy="91440"/>
          </a:xfrm>
          <a:prstGeom prst="ellipse">
            <a:avLst/>
          </a:prstGeom>
          <a:solidFill>
            <a:srgbClr val="59C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60520" y="2971800"/>
            <a:ext cx="1143000" cy="1143000"/>
          </a:xfrm>
          <a:prstGeom prst="ellipse">
            <a:avLst/>
          </a:prstGeom>
          <a:solidFill>
            <a:srgbClr val="B4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4590288" y="3310128"/>
            <a:ext cx="347472" cy="438912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2976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0F4F8"/>
                </a:solidFill>
                <a:latin typeface="Microsoft YaHei"/>
              </a:defRPr>
            </a:pPr>
            <a:r>
              <a:t>在此处插入项目实机演示视频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8006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A6B1BE"/>
                </a:solidFill>
                <a:latin typeface="Microsoft YaHei"/>
              </a:defRPr>
            </a:pPr>
            <a:r>
              <a:t>建议时长 45–60 秒 · MP4（H.264 + AAC）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150876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4142D"/>
                </a:solidFill>
                <a:latin typeface="Microsoft YaHei"/>
              </a:defRPr>
            </a:pPr>
            <a:r>
              <a:t>演示重点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993392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4142D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02368" y="1975104"/>
            <a:ext cx="1600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263241"/>
                </a:solidFill>
                <a:latin typeface="Microsoft YaHei"/>
              </a:defRPr>
            </a:pPr>
            <a:r>
              <a:t>任务发起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02368" y="2267712"/>
            <a:ext cx="1600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E7884"/>
                </a:solidFill>
                <a:latin typeface="Microsoft YaHei"/>
              </a:defRPr>
            </a:pPr>
            <a:r>
              <a:t>展示用户输入与任务拆解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953512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4142D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2368" y="2935224"/>
            <a:ext cx="1600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263241"/>
                </a:solidFill>
                <a:latin typeface="Microsoft YaHei"/>
              </a:defRPr>
            </a:pPr>
            <a:r>
              <a:t>协同执行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2368" y="3227832"/>
            <a:ext cx="1600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E7884"/>
                </a:solidFill>
                <a:latin typeface="Microsoft YaHei"/>
              </a:defRPr>
            </a:pPr>
            <a:r>
              <a:t>展示多 Agent 调度与执行状态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913632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4142D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3895344"/>
            <a:ext cx="1600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263241"/>
                </a:solidFill>
                <a:latin typeface="Microsoft YaHei"/>
              </a:defRPr>
            </a:pPr>
            <a:r>
              <a:t>智能监控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8" y="4187952"/>
            <a:ext cx="1600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E7884"/>
                </a:solidFill>
                <a:latin typeface="Microsoft YaHei"/>
              </a:defRPr>
            </a:pPr>
            <a:r>
              <a:t>展示过程 Trace、异常与指标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4873752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4142D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4855464"/>
            <a:ext cx="1600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263241"/>
                </a:solidFill>
                <a:latin typeface="Microsoft YaHei"/>
              </a:defRPr>
            </a:pPr>
            <a:r>
              <a:t>结果筛选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8" y="5148072"/>
            <a:ext cx="1600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E7884"/>
                </a:solidFill>
                <a:latin typeface="Microsoft YaHei"/>
              </a:defRPr>
            </a:pPr>
            <a:r>
              <a:t>展示候选结果评分与最终输出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589788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0">
                <a:solidFill>
                  <a:srgbClr val="828A94"/>
                </a:solidFill>
                <a:latin typeface="Microsoft YaHei"/>
              </a:defRPr>
            </a:pPr>
            <a:r>
              <a:t>建议现场点击播放，避免自动播放失控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中信建投证券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跨智能体协同执行智能监控与结果筛选优化研究</dc:title>
  <dc:subject>实习答辩PPT模板</dc:subject>
  <dc:creator>OpenAI</dc:creator>
  <cp:lastModifiedBy>OpenAI</cp:lastModifiedBy>
  <cp:revision>1</cp:revision>
  <dcterms:created xsi:type="dcterms:W3CDTF">2026-09-03T06:41:42Z</dcterms:created>
  <dcterms:modified xsi:type="dcterms:W3CDTF">2026-09-03T06:41:42Z</dcterms:modified>
</cp:coreProperties>
</file>